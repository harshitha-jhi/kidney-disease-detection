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9" r:id="rId3"/>
    <p:sldId id="260" r:id="rId4"/>
    <p:sldId id="261" r:id="rId5"/>
    <p:sldId id="262" r:id="rId6"/>
    <p:sldId id="263" r:id="rId7"/>
    <p:sldId id="264" r:id="rId8"/>
    <p:sldId id="265" r:id="rId9"/>
    <p:sldId id="267" r:id="rId10"/>
    <p:sldId id="268" r:id="rId11"/>
    <p:sldId id="269" r:id="rId12"/>
    <p:sldId id="272" r:id="rId13"/>
    <p:sldId id="275" r:id="rId14"/>
    <p:sldId id="276" r:id="rId15"/>
    <p:sldId id="278" r:id="rId16"/>
    <p:sldId id="279" r:id="rId17"/>
    <p:sldId id="280"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10" r:id="rId44"/>
    <p:sldId id="311" r:id="rId45"/>
    <p:sldId id="312" r:id="rId46"/>
    <p:sldId id="313" r:id="rId47"/>
    <p:sldId id="314"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94660"/>
  </p:normalViewPr>
  <p:slideViewPr>
    <p:cSldViewPr snapToGrid="0">
      <p:cViewPr varScale="1">
        <p:scale>
          <a:sx n="68" d="100"/>
          <a:sy n="68" d="100"/>
        </p:scale>
        <p:origin x="-822"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pPr/>
              <a:t>2/5/2025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pPr/>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pPr/>
              <a:t>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pPr/>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pPr/>
              <a:t>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pPr/>
              <a:t>2/5/2025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xmlns="">
                    <a14:imgLayer r:embed="rId3">
                      <a14:imgEffect>
                        <a14:sharpenSoften amount="61000"/>
                      </a14:imgEffect>
                    </a14:imgLayer>
                  </a14:imgProps>
                </a:ext>
                <a:ext uri="{28A0092B-C50C-407E-A947-70E740481C1C}">
                  <a14:useLocalDpi xmlns:a14="http://schemas.microsoft.com/office/drawing/2010/main" xmlns=""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pPr/>
              <a:t>2/5/2025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xmlns="">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pPr/>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pPr/>
              <a:t>2/5/2025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xmlns="">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xmlns=""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2800" b="1" dirty="0">
                <a:latin typeface="Times New Roman" panose="02020603050405020304" pitchFamily="18" charset="0"/>
                <a:cs typeface="Times New Roman" panose="02020603050405020304" pitchFamily="18" charset="0"/>
              </a:rPr>
              <a:t>Detection Chronic Kidney Disease Using Deep Learning</a:t>
            </a:r>
            <a:r>
              <a:rPr lang="en-IN" dirty="0"/>
              <a:t/>
            </a:r>
            <a:br>
              <a:rPr lang="en-IN" dirty="0"/>
            </a:br>
            <a:endParaRPr lang="en-IN" dirty="0"/>
          </a:p>
        </p:txBody>
      </p:sp>
    </p:spTree>
    <p:extLst>
      <p:ext uri="{BB962C8B-B14F-4D97-AF65-F5344CB8AC3E}">
        <p14:creationId xmlns:p14="http://schemas.microsoft.com/office/powerpoint/2010/main" xmlns="" val="262227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chemeClr val="tx1"/>
                </a:solidFill>
              </a:rPr>
              <a:t>                            INDEX</a:t>
            </a:r>
            <a:endParaRPr lang="en-US" b="1" dirty="0">
              <a:solidFill>
                <a:schemeClr val="tx1"/>
              </a:solidFill>
            </a:endParaRP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smtClean="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Hardware </a:t>
            </a:r>
            <a:r>
              <a:rPr lang="en-US" dirty="0">
                <a:latin typeface="Times New Roman" panose="02020603050405020304" pitchFamily="18" charset="0"/>
                <a:cs typeface="Times New Roman" panose="02020603050405020304" pitchFamily="18" charset="0"/>
              </a:rPr>
              <a:t>and Software </a:t>
            </a:r>
            <a:r>
              <a:rPr lang="en-US" dirty="0" smtClean="0">
                <a:latin typeface="Times New Roman" panose="02020603050405020304" pitchFamily="18" charset="0"/>
                <a:cs typeface="Times New Roman" panose="02020603050405020304" pitchFamily="18" charset="0"/>
              </a:rPr>
              <a:t>Requirements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Architecture</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smtClean="0">
                <a:latin typeface="Times New Roman" panose="02020603050405020304" pitchFamily="18" charset="0"/>
                <a:cs typeface="Times New Roman" panose="02020603050405020304" pitchFamily="18" charset="0"/>
              </a:rPr>
              <a:t>Output Screens</a:t>
            </a:r>
            <a:endParaRPr lang="en-US" dirty="0" smtClean="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r>
              <a:rPr lang="en-US"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0839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8742" y="2265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ABSTRACT</a:t>
            </a: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514775" y="1204169"/>
            <a:ext cx="11058915"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 issue that causes a high incidence of morbidity and death, as well as the onset of additional illnesses. Because there are no clear symptoms in the early stages of CKD, people frequently miss it. Early identification of CKD allows patients to obtain prompt therapy to slow the disease's development. Due of their rapid and precise identification capabilities, deep learning models can successfully assist doctors in achieving this aim. We present a machine-learning framework for diagnosing CKD in this paper. The CKD data set was collected from the deep learning repository at the University of California, Irvine (UCI). As a result, it will determine whether or not a patient has CKD and, if so, whether or not further drugs should be taken. Deep learning algorithms (CNN, Mobile net and kidney disease) were used to establish models. Among these deep learning models, random forest achieved the best accuracy. By analyzing the misjudgments generated by the established models, we proposed an integrated model that combines logistic regression and random forest by using perceptron, best accuracy hence; we speculated that this methodology could be applicable to more complicated clinical data for disease diagnosis.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 CNN, Mobile net and kidney chronic disease.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6029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OBJECTIVE OF PROJECT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273643" y="2001795"/>
            <a:ext cx="8468498"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objective of this study is to develop a deep learning-based model for the early detection and diagnosis of chronic kidney disease (CKD). Leveraging medical data, this research aims to create an accurate and efficient system capable of predicting CKD risk factors, thereby facilitating timely intervention and improved patient outcomes.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42984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046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PROBLEM STATEMENT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96655" y="1623209"/>
            <a:ext cx="8509940"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problem is to develop a deep learning-based model for the early detection of chronic kidney disease (CKD). This model should analyze patient data, including clinical measurements, medical history, and laboratory test results, to accurately predict the presence of CKD. Early detection is crucial for timely intervention and prevention of CKD progression, which can lead to severe health complications. The goal is to create an efficient and reliable tool to assist healthcare providers in diagnosing CKD at an earlier stage, improving patient outcomes and reducing healthcare costs.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98965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5" y="2045977"/>
            <a:ext cx="8470989"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detecting chronic kidney disease using deep learning encompasses leveraging advanced neural networks and medical data to develop accurate predictive models. This includes early diagnosis, risk assessment, and treatment optimization, contributing to improved patient care, reduced healthcare costs, and enhanced overall public health through proactive CKD management.</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6355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443" y="1614669"/>
            <a:ext cx="9094843"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Detecting Chronic Kidney Disease through Deep Learning is not just a scientific endeavor; it's a path to saving lives. By harnessing the power of artificial intelligence, we empower healthcare professionals with rapid, accurate diagnoses, enabling early intervention and improving patient outcomes. With every line of code and every data point analyzed, we contribute to a future where individuals can lead healthier lives, reducing the burden of this silent but deadly disease on global healthcare systems. This pursuit is not just about technology; it's about the profound impact it can have on human health and well-being.</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464896"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01547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1363597"/>
            <a:ext cx="10487827"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healthcare concern with a steadily increasing prevalence. It poses significant challenges for both patients and healthcare systems due to its often asymptomatic nature in the early stages and potential for severe complications, including end-stage renal disease. Early detection and timely intervention are crucial to slow the progression of CKD and improve patient outcomes. Traditional diagnostic methods rely on laboratory tests, which may not always be accessible or cost-effective.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 recent years, Deep Learning (DL) techniques have shown immense promise in revolutionizing medical diagnostics, including the identification of CKD. DL models, such as Convolutional Neural Networks (CNNs) and Recurrent Neural Networks (RNNs), excel at extracting complex patterns and features from medical data, such as patient records, medical images, and genetic information. These models have the potential to enhance CKD detection by analyzing a multitude of factors and providing accurate predictions. This paper explores the application of DL in the early detection of CKD, emphasizing its potential to transform healthcare by facilitating proactive and personalized care for individuals at risk of this debilitating condition.</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58565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INTRODUCTION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2857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4042087080"/>
              </p:ext>
            </p:extLst>
          </p:nvPr>
        </p:nvGraphicFramePr>
        <p:xfrm>
          <a:off x="509451" y="794363"/>
          <a:ext cx="10842172" cy="4668520"/>
        </p:xfrm>
        <a:graphic>
          <a:graphicData uri="http://schemas.openxmlformats.org/drawingml/2006/table">
            <a:tbl>
              <a:tblPr firstRow="1" bandRow="1">
                <a:tableStyleId>{5C22544A-7EE6-4342-B048-85BDC9FD1C3A}</a:tableStyleId>
              </a:tblPr>
              <a:tblGrid>
                <a:gridCol w="860780">
                  <a:extLst>
                    <a:ext uri="{9D8B030D-6E8A-4147-A177-3AD203B41FA5}">
                      <a16:colId xmlns:a16="http://schemas.microsoft.com/office/drawing/2014/main" xmlns="" val="20000"/>
                    </a:ext>
                  </a:extLst>
                </a:gridCol>
                <a:gridCol w="1555424">
                  <a:extLst>
                    <a:ext uri="{9D8B030D-6E8A-4147-A177-3AD203B41FA5}">
                      <a16:colId xmlns:a16="http://schemas.microsoft.com/office/drawing/2014/main" xmlns="" val="20001"/>
                    </a:ext>
                  </a:extLst>
                </a:gridCol>
                <a:gridCol w="1818744">
                  <a:extLst>
                    <a:ext uri="{9D8B030D-6E8A-4147-A177-3AD203B41FA5}">
                      <a16:colId xmlns:a16="http://schemas.microsoft.com/office/drawing/2014/main" xmlns="" val="20002"/>
                    </a:ext>
                  </a:extLst>
                </a:gridCol>
                <a:gridCol w="1950537">
                  <a:extLst>
                    <a:ext uri="{9D8B030D-6E8A-4147-A177-3AD203B41FA5}">
                      <a16:colId xmlns:a16="http://schemas.microsoft.com/office/drawing/2014/main" xmlns="" val="20003"/>
                    </a:ext>
                  </a:extLst>
                </a:gridCol>
                <a:gridCol w="4656687">
                  <a:extLst>
                    <a:ext uri="{9D8B030D-6E8A-4147-A177-3AD203B41FA5}">
                      <a16:colId xmlns:a16="http://schemas.microsoft.com/office/drawing/2014/main" xmlns=""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xmlns="" val="10000"/>
                  </a:ext>
                </a:extLst>
              </a:tr>
              <a:tr h="370840">
                <a:tc>
                  <a:txBody>
                    <a:bodyPr/>
                    <a:lstStyle/>
                    <a:p>
                      <a:pPr algn="just">
                        <a:lnSpc>
                          <a:spcPct val="150000"/>
                        </a:lnSpc>
                      </a:pPr>
                      <a:r>
                        <a:rPr lang="en-US" sz="1800" b="0" dirty="0" smtClean="0">
                          <a:solidFill>
                            <a:schemeClr val="tx1"/>
                          </a:solidFill>
                          <a:latin typeface="Times New Roman" panose="02020603050405020304" pitchFamily="18" charset="0"/>
                          <a:cs typeface="Times New Roman" panose="02020603050405020304" pitchFamily="18" charset="0"/>
                        </a:rPr>
                        <a:t>1</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Tang, J., Liu, R., Zhang</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Deep Learning for Kidney Tissue Classification</a:t>
                      </a:r>
                      <a:endParaRPr lang="en-US" sz="1800" b="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A type of deep learning architecture known for its effectiveness in image analysis tasks, to tackle the challenging problem of kidney tissue classification</a:t>
                      </a:r>
                      <a:endParaRPr lang="en-US" sz="18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2</a:t>
                      </a: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Jirayucharoensak</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Pan-</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Ngum</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&amp; </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Israsena</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Automatic kidney disease diagnosis from ultrasound images using deep convolutional neural networks</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Kidney disease is a prevalent health issue, and early detection is crucial for effective treatment and management. Traditional diagnosis methods can be time-consuming and subjective, making the need for automated and accurate diagnostic tools essential</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64747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954915388"/>
              </p:ext>
            </p:extLst>
          </p:nvPr>
        </p:nvGraphicFramePr>
        <p:xfrm>
          <a:off x="418011" y="572295"/>
          <a:ext cx="11168742" cy="5080000"/>
        </p:xfrm>
        <a:graphic>
          <a:graphicData uri="http://schemas.openxmlformats.org/drawingml/2006/table">
            <a:tbl>
              <a:tblPr firstRow="1" bandRow="1">
                <a:tableStyleId>{5C22544A-7EE6-4342-B048-85BDC9FD1C3A}</a:tableStyleId>
              </a:tblPr>
              <a:tblGrid>
                <a:gridCol w="886708">
                  <a:extLst>
                    <a:ext uri="{9D8B030D-6E8A-4147-A177-3AD203B41FA5}">
                      <a16:colId xmlns:a16="http://schemas.microsoft.com/office/drawing/2014/main" xmlns="" val="20000"/>
                    </a:ext>
                  </a:extLst>
                </a:gridCol>
                <a:gridCol w="1602274">
                  <a:extLst>
                    <a:ext uri="{9D8B030D-6E8A-4147-A177-3AD203B41FA5}">
                      <a16:colId xmlns:a16="http://schemas.microsoft.com/office/drawing/2014/main" xmlns="" val="20001"/>
                    </a:ext>
                  </a:extLst>
                </a:gridCol>
                <a:gridCol w="1873525">
                  <a:extLst>
                    <a:ext uri="{9D8B030D-6E8A-4147-A177-3AD203B41FA5}">
                      <a16:colId xmlns:a16="http://schemas.microsoft.com/office/drawing/2014/main" xmlns="" val="20002"/>
                    </a:ext>
                  </a:extLst>
                </a:gridCol>
                <a:gridCol w="2009287">
                  <a:extLst>
                    <a:ext uri="{9D8B030D-6E8A-4147-A177-3AD203B41FA5}">
                      <a16:colId xmlns:a16="http://schemas.microsoft.com/office/drawing/2014/main" xmlns="" val="20003"/>
                    </a:ext>
                  </a:extLst>
                </a:gridCol>
                <a:gridCol w="4796948">
                  <a:extLst>
                    <a:ext uri="{9D8B030D-6E8A-4147-A177-3AD203B41FA5}">
                      <a16:colId xmlns:a16="http://schemas.microsoft.com/office/drawing/2014/main" xmlns=""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xmlns="" val="10000"/>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3</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 Liang, M., Ni, Z., &amp; Yan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Chronic kidney disease classification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In this research, the authors leveraged the power of deep convolutional neural networks (CNNs), a type of deep learning model well known for its effectiveness in image classification tasks.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4</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Islam, M. T., Rahman, M. M., Islam</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Kidney disease classification from ultrasonic images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The primary objective of this research was to develop an automated and accurate method for classifying kidney diseases based on ultrasound images, which are widely used in clinical practice due to their non-invasive nature</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10002"/>
                  </a:ext>
                </a:extLst>
              </a:tr>
            </a:tbl>
          </a:graphicData>
        </a:graphic>
      </p:graphicFrame>
      <p:sp>
        <p:nvSpPr>
          <p:cNvPr id="3" name="Title 1"/>
          <p:cNvSpPr txBox="1"/>
          <p:nvPr/>
        </p:nvSpPr>
        <p:spPr>
          <a:xfrm>
            <a:off x="1245887" y="-35858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472443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33382" y="4493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EXISTING SYSTEM</a:t>
            </a:r>
            <a:endParaRPr lang="en-US" sz="3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275555" y="1733292"/>
            <a:ext cx="9135543" cy="3739485"/>
          </a:xfrm>
          <a:prstGeom prst="rect">
            <a:avLst/>
          </a:prstGeom>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Using training data set required Model is trained and tested. Respective Algorithm is they used along with trained model for CKD detection. As an Input, patient input parameter is given in system. Figures are analyzed using deep learning technique and diagnosis is done</a:t>
            </a:r>
            <a:r>
              <a:rPr lang="en-US" dirty="0" smtClean="0">
                <a:latin typeface="Times New Roman" panose="02020603050405020304" pitchFamily="18" charset="0"/>
                <a:cs typeface="Times New Roman" panose="02020603050405020304" pitchFamily="18" charset="0"/>
              </a:rPr>
              <a:t>.</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b="1" dirty="0" smtClean="0">
                <a:latin typeface="Times New Roman" panose="02020603050405020304" pitchFamily="18" charset="0"/>
                <a:cs typeface="Times New Roman" panose="02020603050405020304" pitchFamily="18" charset="0"/>
              </a:rPr>
              <a:t>Disadvantages:</a:t>
            </a:r>
          </a:p>
          <a:p>
            <a:pPr lvl="1">
              <a:lnSpc>
                <a:spcPct val="150000"/>
              </a:lnSpc>
            </a:pPr>
            <a:r>
              <a:rPr lang="en-US" sz="2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High complexity.</a:t>
            </a:r>
            <a:endParaRPr lang="en-IN"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2.Time consuming</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0450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50257" y="618867"/>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PROPOSED METHOD</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85455" y="1812895"/>
            <a:ext cx="9533925" cy="429348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We are performing classification of either detecting chronic disease using Convolution Neural Network (CNN</a:t>
            </a:r>
            <a:r>
              <a:rPr lang="en-US" dirty="0" smtClean="0">
                <a:latin typeface="Times New Roman" panose="02020603050405020304" pitchFamily="18" charset="0"/>
                <a:cs typeface="Times New Roman" panose="02020603050405020304" pitchFamily="18" charset="0"/>
              </a:rPr>
              <a:t>) and </a:t>
            </a:r>
            <a:r>
              <a:rPr lang="en-US" smtClean="0">
                <a:latin typeface="Times New Roman" panose="02020603050405020304" pitchFamily="18" charset="0"/>
                <a:cs typeface="Times New Roman" panose="02020603050405020304" pitchFamily="18" charset="0"/>
              </a:rPr>
              <a:t>MobileNet </a:t>
            </a:r>
            <a:r>
              <a:rPr lang="en-US" dirty="0">
                <a:latin typeface="Times New Roman" panose="02020603050405020304" pitchFamily="18" charset="0"/>
                <a:cs typeface="Times New Roman" panose="02020603050405020304" pitchFamily="18" charset="0"/>
              </a:rPr>
              <a:t>of deep learning along with machine learning methods in the purposed method. As image analysis-based approaches for detecting kidney disease. As a result, proper classification is essential for proper treatment, which will be possible with our proposed </a:t>
            </a:r>
            <a:r>
              <a:rPr lang="en-US" dirty="0" smtClean="0">
                <a:latin typeface="Times New Roman" panose="02020603050405020304" pitchFamily="18" charset="0"/>
                <a:cs typeface="Times New Roman" panose="02020603050405020304" pitchFamily="18" charset="0"/>
              </a:rPr>
              <a:t>method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Advantages:</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Highest Accuracy</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2Reduces </a:t>
            </a:r>
            <a:r>
              <a:rPr lang="en-US" dirty="0">
                <a:latin typeface="Times New Roman" panose="02020603050405020304" pitchFamily="18" charset="0"/>
                <a:cs typeface="Times New Roman" panose="02020603050405020304" pitchFamily="18" charset="0"/>
              </a:rPr>
              <a:t>Time Complexity</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spcAft>
                <a:spcPts val="800"/>
              </a:spcAft>
              <a:buFont typeface="Wingdings" panose="05000000000000000000" pitchFamily="2" charset="2"/>
              <a:buChar char="Ø"/>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827627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146329"/>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PROJECT FLLOW</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smtClean="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xmlns="" val="0"/>
              </a:ext>
            </a:extLst>
          </a:blip>
          <a:srcRect/>
          <a:stretch>
            <a:fillRect/>
          </a:stretch>
        </p:blipFill>
        <p:spPr bwMode="auto">
          <a:xfrm>
            <a:off x="3254282" y="940526"/>
            <a:ext cx="5066757" cy="4519748"/>
          </a:xfrm>
          <a:prstGeom prst="rect">
            <a:avLst/>
          </a:prstGeom>
          <a:noFill/>
          <a:ln>
            <a:noFill/>
          </a:ln>
        </p:spPr>
      </p:pic>
    </p:spTree>
    <p:extLst>
      <p:ext uri="{BB962C8B-B14F-4D97-AF65-F5344CB8AC3E}">
        <p14:creationId xmlns:p14="http://schemas.microsoft.com/office/powerpoint/2010/main" xmlns="" val="2152648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2462753" y="975305"/>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1800" b="1" dirty="0" smtClean="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Flask, Pandas, </a:t>
            </a:r>
            <a:r>
              <a:rPr lang="en-US" sz="1800" dirty="0" err="1">
                <a:latin typeface="Times New Roman" panose="02020603050405020304" pitchFamily="18" charset="0"/>
                <a:cs typeface="Times New Roman" panose="02020603050405020304" pitchFamily="18" charset="0"/>
              </a:rPr>
              <a:t>Mysql.connector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Smtplib</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PyCharm</a:t>
            </a:r>
            <a:endParaRPr lang="en-US" sz="1800" dirty="0" smtClean="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398901"/>
            <a:ext cx="8721984" cy="764881"/>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53053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815792" y="1365227"/>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a:t>
            </a:r>
            <a:r>
              <a:rPr lang="en-US" dirty="0" smtClean="0">
                <a:latin typeface="Times New Roman" panose="02020603050405020304" pitchFamily="18" charset="0"/>
                <a:cs typeface="Times New Roman" panose="02020603050405020304" pitchFamily="18" charset="0"/>
              </a:rPr>
              <a:t>8GB </a:t>
            </a:r>
            <a:r>
              <a:rPr lang="en-US" dirty="0">
                <a:latin typeface="Times New Roman" panose="02020603050405020304" pitchFamily="18" charset="0"/>
                <a:cs typeface="Times New Roman" panose="02020603050405020304" pitchFamily="18" charset="0"/>
              </a:rPr>
              <a:t>(min)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576063" y="385046"/>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1967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220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2413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extLst>
      <p:ext uri="{BB962C8B-B14F-4D97-AF65-F5344CB8AC3E}">
        <p14:creationId xmlns:p14="http://schemas.microsoft.com/office/powerpoint/2010/main" xmlns="" val="369549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b="1" dirty="0" smtClean="0">
                <a:latin typeface="Times New Roman" panose="02020603050405020304" pitchFamily="18" charset="0"/>
                <a:cs typeface="Times New Roman" panose="02020603050405020304" pitchFamily="18" charset="0"/>
              </a:rPr>
              <a:t>Use Case Diagram</a:t>
            </a:r>
            <a:endParaRPr lang="en-US"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522672" y="2095569"/>
            <a:ext cx="6196093" cy="3390900"/>
          </a:xfrm>
          <a:prstGeom prst="rect">
            <a:avLst/>
          </a:prstGeom>
        </p:spPr>
      </p:pic>
    </p:spTree>
    <p:extLst>
      <p:ext uri="{BB962C8B-B14F-4D97-AF65-F5344CB8AC3E}">
        <p14:creationId xmlns:p14="http://schemas.microsoft.com/office/powerpoint/2010/main" xmlns="" val="555138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smtClean="0">
                <a:latin typeface="Times New Roman" panose="02020603050405020304" pitchFamily="18" charset="0"/>
                <a:cs typeface="Times New Roman" panose="02020603050405020304" pitchFamily="18" charset="0"/>
              </a:rPr>
              <a:t>Class Diagram</a:t>
            </a:r>
            <a:r>
              <a:rPr lang="en-US" sz="2000" b="1"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xmlns="" val="2420447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499154" y="5660218"/>
            <a:ext cx="297386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Class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426033" y="1867172"/>
            <a:ext cx="4845776" cy="2914650"/>
          </a:xfrm>
          <a:prstGeom prst="rect">
            <a:avLst/>
          </a:prstGeom>
        </p:spPr>
      </p:pic>
    </p:spTree>
    <p:extLst>
      <p:ext uri="{BB962C8B-B14F-4D97-AF65-F5344CB8AC3E}">
        <p14:creationId xmlns:p14="http://schemas.microsoft.com/office/powerpoint/2010/main" xmlns="" val="3762489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smtClean="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88067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99006" y="5461463"/>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Sequence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690620" y="2005012"/>
            <a:ext cx="4810760" cy="2847975"/>
          </a:xfrm>
          <a:prstGeom prst="rect">
            <a:avLst/>
          </a:prstGeom>
        </p:spPr>
      </p:pic>
    </p:spTree>
    <p:extLst>
      <p:ext uri="{BB962C8B-B14F-4D97-AF65-F5344CB8AC3E}">
        <p14:creationId xmlns:p14="http://schemas.microsoft.com/office/powerpoint/2010/main" xmlns="" val="142579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xmlns="" val="4151772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a:t>
            </a:r>
            <a:r>
              <a:rPr lang="en-US" sz="2000" b="1" dirty="0">
                <a:latin typeface="Times New Roman" panose="02020603050405020304" pitchFamily="18" charset="0"/>
                <a:cs typeface="Times New Roman" panose="02020603050405020304" pitchFamily="18" charset="0"/>
              </a:rPr>
              <a:t>Collaboration </a:t>
            </a:r>
            <a:r>
              <a:rPr lang="en-US" sz="2000" b="1" dirty="0" smtClean="0">
                <a:latin typeface="Times New Roman" panose="02020603050405020304" pitchFamily="18" charset="0"/>
                <a:cs typeface="Times New Roman" panose="02020603050405020304" pitchFamily="18" charset="0"/>
              </a:rPr>
              <a:t>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4062412" y="2352675"/>
            <a:ext cx="4067175" cy="2152650"/>
          </a:xfrm>
          <a:prstGeom prst="rect">
            <a:avLst/>
          </a:prstGeom>
        </p:spPr>
      </p:pic>
    </p:spTree>
    <p:extLst>
      <p:ext uri="{BB962C8B-B14F-4D97-AF65-F5344CB8AC3E}">
        <p14:creationId xmlns:p14="http://schemas.microsoft.com/office/powerpoint/2010/main" xmlns="" val="2595224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xmlns="" val="3341006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Deployment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176712" y="2705100"/>
            <a:ext cx="3838575" cy="1447800"/>
          </a:xfrm>
          <a:prstGeom prst="rect">
            <a:avLst/>
          </a:prstGeom>
        </p:spPr>
      </p:pic>
    </p:spTree>
    <p:extLst>
      <p:ext uri="{BB962C8B-B14F-4D97-AF65-F5344CB8AC3E}">
        <p14:creationId xmlns:p14="http://schemas.microsoft.com/office/powerpoint/2010/main" xmlns="" val="4163151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xmlns="" val="4278292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0992" y="5967997"/>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Activity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4024310" y="1679846"/>
            <a:ext cx="4143375" cy="4029075"/>
          </a:xfrm>
          <a:prstGeom prst="rect">
            <a:avLst/>
          </a:prstGeom>
        </p:spPr>
      </p:pic>
    </p:spTree>
    <p:extLst>
      <p:ext uri="{BB962C8B-B14F-4D97-AF65-F5344CB8AC3E}">
        <p14:creationId xmlns:p14="http://schemas.microsoft.com/office/powerpoint/2010/main" xmlns="" val="4247792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xmlns="" val="1853181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Component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733482" y="2833687"/>
            <a:ext cx="4725035" cy="1190625"/>
          </a:xfrm>
          <a:prstGeom prst="rect">
            <a:avLst/>
          </a:prstGeom>
        </p:spPr>
      </p:pic>
    </p:spTree>
    <p:extLst>
      <p:ext uri="{BB962C8B-B14F-4D97-AF65-F5344CB8AC3E}">
        <p14:creationId xmlns:p14="http://schemas.microsoft.com/office/powerpoint/2010/main" xmlns="" val="2471858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xmlns="" val="1662270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ER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230245" y="2008822"/>
            <a:ext cx="5731510" cy="2840355"/>
          </a:xfrm>
          <a:prstGeom prst="rect">
            <a:avLst/>
          </a:prstGeom>
        </p:spPr>
      </p:pic>
    </p:spTree>
    <p:extLst>
      <p:ext uri="{BB962C8B-B14F-4D97-AF65-F5344CB8AC3E}">
        <p14:creationId xmlns:p14="http://schemas.microsoft.com/office/powerpoint/2010/main" xmlns="" val="3628776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xmlns="" val="4158107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Context Level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581082" y="1795145"/>
            <a:ext cx="5029835" cy="3267710"/>
          </a:xfrm>
          <a:prstGeom prst="rect">
            <a:avLst/>
          </a:prstGeom>
        </p:spPr>
      </p:pic>
    </p:spTree>
    <p:extLst>
      <p:ext uri="{BB962C8B-B14F-4D97-AF65-F5344CB8AC3E}">
        <p14:creationId xmlns:p14="http://schemas.microsoft.com/office/powerpoint/2010/main" xmlns="" val="3924224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FigureLevel-1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230245" y="1579880"/>
            <a:ext cx="5731510" cy="3698240"/>
          </a:xfrm>
          <a:prstGeom prst="rect">
            <a:avLst/>
          </a:prstGeom>
        </p:spPr>
      </p:pic>
    </p:spTree>
    <p:extLst>
      <p:ext uri="{BB962C8B-B14F-4D97-AF65-F5344CB8AC3E}">
        <p14:creationId xmlns:p14="http://schemas.microsoft.com/office/powerpoint/2010/main" xmlns="" val="978461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Figure:Level-2 diagram</a:t>
            </a:r>
            <a:endParaRPr lang="en-US" sz="2000"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3230245" y="1515745"/>
            <a:ext cx="5731510" cy="3826510"/>
          </a:xfrm>
          <a:prstGeom prst="rect">
            <a:avLst/>
          </a:prstGeom>
        </p:spPr>
      </p:pic>
    </p:spTree>
    <p:extLst>
      <p:ext uri="{BB962C8B-B14F-4D97-AF65-F5344CB8AC3E}">
        <p14:creationId xmlns:p14="http://schemas.microsoft.com/office/powerpoint/2010/main" xmlns="" val="2161501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4811574"/>
          </a:xfrm>
          <a:prstGeom prst="rect">
            <a:avLst/>
          </a:prstGeom>
        </p:spPr>
        <p:txBody>
          <a:bodyPr wrap="square">
            <a:spAutoFit/>
          </a:bodyPr>
          <a:lstStyle/>
          <a:p>
            <a:pPr algn="ctr">
              <a:lnSpc>
                <a:spcPct val="150000"/>
              </a:lnSpc>
              <a:spcAft>
                <a:spcPts val="800"/>
              </a:spcAft>
            </a:pPr>
            <a:r>
              <a:rPr lang="en-IN" sz="2000"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1.1 Create Dataset:</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Collect a diverse dataset of retinal images, including images with and without signs of cardiovascular disease.</a:t>
            </a:r>
          </a:p>
          <a:p>
            <a:pPr algn="just">
              <a:lnSpc>
                <a:spcPct val="150000"/>
              </a:lnSpc>
            </a:pPr>
            <a:r>
              <a:rPr lang="en-IN" dirty="0">
                <a:latin typeface="Times New Roman" panose="02020603050405020304" pitchFamily="18" charset="0"/>
                <a:cs typeface="Times New Roman" panose="02020603050405020304" pitchFamily="18" charset="0"/>
              </a:rPr>
              <a:t>Split the dataset into two parts: a training dataset (used for model training) and a testing dataset (used to evaluate the model's performance). The test dataset should typically be around 20-30% of the total dataset.</a:t>
            </a:r>
          </a:p>
          <a:p>
            <a:pPr algn="just">
              <a:lnSpc>
                <a:spcPct val="150000"/>
              </a:lnSpc>
            </a:pPr>
            <a:r>
              <a:rPr lang="en-IN" b="1" dirty="0">
                <a:latin typeface="Times New Roman" panose="02020603050405020304" pitchFamily="18" charset="0"/>
                <a:cs typeface="Times New Roman" panose="02020603050405020304" pitchFamily="18" charset="0"/>
              </a:rPr>
              <a:t>1.2 Pre-processing: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Before feeding images into the deep learning model, perform pre-processing steps like resizing and reshaping to ensure all images are in a consistent format.</a:t>
            </a:r>
          </a:p>
          <a:p>
            <a:pPr algn="just">
              <a:lnSpc>
                <a:spcPct val="150000"/>
              </a:lnSpc>
            </a:pPr>
            <a:r>
              <a:rPr lang="en-IN" dirty="0">
                <a:latin typeface="Times New Roman" panose="02020603050405020304" pitchFamily="18" charset="0"/>
                <a:cs typeface="Times New Roman" panose="02020603050405020304" pitchFamily="18" charset="0"/>
              </a:rPr>
              <a:t>Normalize pixel values, and potentially augment the data with techniques like rotation, flipping, or contrast adjustments to improve model generalization</a:t>
            </a:r>
            <a:r>
              <a:rPr lang="en-IN" dirty="0"/>
              <a:t>.</a:t>
            </a:r>
          </a:p>
        </p:txBody>
      </p:sp>
    </p:spTree>
    <p:extLst>
      <p:ext uri="{BB962C8B-B14F-4D97-AF65-F5344CB8AC3E}">
        <p14:creationId xmlns:p14="http://schemas.microsoft.com/office/powerpoint/2010/main" xmlns="" val="2490226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5227072"/>
          </a:xfrm>
          <a:prstGeom prst="rect">
            <a:avLst/>
          </a:prstGeom>
        </p:spPr>
        <p:txBody>
          <a:bodyPr wrap="square">
            <a:spAutoFit/>
          </a:bodyPr>
          <a:lstStyle/>
          <a:p>
            <a:pPr algn="ctr">
              <a:lnSpc>
                <a:spcPct val="150000"/>
              </a:lnSpc>
              <a:spcAft>
                <a:spcPts val="800"/>
              </a:spcAft>
            </a:pPr>
            <a:r>
              <a:rPr lang="en-IN" sz="2000" b="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1.3 Training: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Train a deep learning model using the pre-processed training dataset. Common architectures for image classification include Convolutional Neural Networks (CNNs).</a:t>
            </a:r>
          </a:p>
          <a:p>
            <a:pPr algn="just">
              <a:lnSpc>
                <a:spcPct val="150000"/>
              </a:lnSpc>
            </a:pPr>
            <a:r>
              <a:rPr lang="en-IN" dirty="0">
                <a:latin typeface="Times New Roman" panose="02020603050405020304" pitchFamily="18" charset="0"/>
                <a:cs typeface="Times New Roman" panose="02020603050405020304" pitchFamily="18" charset="0"/>
              </a:rPr>
              <a:t>During training, the model learns to recognize patterns and features in the retinal images that distinguish between disease and normal cases.</a:t>
            </a:r>
          </a:p>
          <a:p>
            <a:pPr algn="just">
              <a:lnSpc>
                <a:spcPct val="150000"/>
              </a:lnSpc>
            </a:pPr>
            <a:r>
              <a:rPr lang="en-IN" dirty="0">
                <a:latin typeface="Times New Roman" panose="02020603050405020304" pitchFamily="18" charset="0"/>
                <a:cs typeface="Times New Roman" panose="02020603050405020304" pitchFamily="18" charset="0"/>
              </a:rPr>
              <a:t>Utilize loss functions and optimization algorithms to fine-tune the model's parameters.</a:t>
            </a:r>
          </a:p>
          <a:p>
            <a:pPr algn="just">
              <a:lnSpc>
                <a:spcPct val="150000"/>
              </a:lnSpc>
            </a:pPr>
            <a:r>
              <a:rPr lang="en-IN" b="1" dirty="0">
                <a:latin typeface="Times New Roman" panose="02020603050405020304" pitchFamily="18" charset="0"/>
                <a:cs typeface="Times New Roman" panose="02020603050405020304" pitchFamily="18" charset="0"/>
              </a:rPr>
              <a:t>1.4 Classification: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After training, use the trained model to classify new, unseen retinal images as either "with disease" or "normal."</a:t>
            </a:r>
          </a:p>
          <a:p>
            <a:pPr algn="just">
              <a:lnSpc>
                <a:spcPct val="150000"/>
              </a:lnSpc>
            </a:pPr>
            <a:r>
              <a:rPr lang="en-IN" dirty="0">
                <a:latin typeface="Times New Roman" panose="02020603050405020304" pitchFamily="18" charset="0"/>
                <a:cs typeface="Times New Roman" panose="02020603050405020304" pitchFamily="18" charset="0"/>
              </a:rPr>
              <a:t>The classification output could be a probability score or a binary decision, indicating the likelihood of the image containing signs of cardiovascular disease.</a:t>
            </a:r>
          </a:p>
        </p:txBody>
      </p:sp>
    </p:spTree>
    <p:extLst>
      <p:ext uri="{BB962C8B-B14F-4D97-AF65-F5344CB8AC3E}">
        <p14:creationId xmlns:p14="http://schemas.microsoft.com/office/powerpoint/2010/main" xmlns="" val="3285718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8537" y="1508065"/>
            <a:ext cx="8647611" cy="3782061"/>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2.1 Upload Image: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Provide a user-friendly interface where users can upload their retinal images for classification.</a:t>
            </a:r>
          </a:p>
          <a:p>
            <a:pPr algn="just">
              <a:lnSpc>
                <a:spcPct val="150000"/>
              </a:lnSpc>
            </a:pPr>
            <a:r>
              <a:rPr lang="en-IN" dirty="0">
                <a:latin typeface="Times New Roman" panose="02020603050405020304" pitchFamily="18" charset="0"/>
                <a:cs typeface="Times New Roman" panose="02020603050405020304" pitchFamily="18" charset="0"/>
              </a:rPr>
              <a:t>Ensure the system can handle various image formats and sizes.</a:t>
            </a:r>
          </a:p>
          <a:p>
            <a:pPr algn="just">
              <a:lnSpc>
                <a:spcPct val="150000"/>
              </a:lnSpc>
            </a:pPr>
            <a:r>
              <a:rPr lang="en-IN" b="1" dirty="0">
                <a:latin typeface="Times New Roman" panose="02020603050405020304" pitchFamily="18" charset="0"/>
                <a:cs typeface="Times New Roman" panose="02020603050405020304" pitchFamily="18" charset="0"/>
              </a:rPr>
              <a:t>2.2 View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Once the trained model processes the uploaded image, display the results to the user.</a:t>
            </a:r>
          </a:p>
          <a:p>
            <a:pPr algn="just">
              <a:lnSpc>
                <a:spcPct val="150000"/>
              </a:lnSpc>
            </a:pPr>
            <a:r>
              <a:rPr lang="en-IN" dirty="0">
                <a:latin typeface="Times New Roman" panose="02020603050405020304" pitchFamily="18" charset="0"/>
                <a:cs typeface="Times New Roman" panose="02020603050405020304" pitchFamily="18" charset="0"/>
              </a:rPr>
              <a:t>Results could include a textual description (e.g., "No disease detected" or "Possible disease detected") and, optionally, a visualization of the image with highlighted regions of interest.</a:t>
            </a:r>
          </a:p>
          <a:p>
            <a:pPr algn="just">
              <a:lnSpc>
                <a:spcPct val="150000"/>
              </a:lnSpc>
            </a:pPr>
            <a:r>
              <a:rPr lang="en-IN" dirty="0">
                <a:latin typeface="Times New Roman" panose="02020603050405020304" pitchFamily="18" charset="0"/>
                <a:cs typeface="Times New Roman" panose="02020603050405020304" pitchFamily="18" charset="0"/>
              </a:rPr>
              <a:t>Users should be able to easily interpret and understand the classification results</a:t>
            </a:r>
          </a:p>
        </p:txBody>
      </p:sp>
      <p:sp>
        <p:nvSpPr>
          <p:cNvPr id="3" name="Rectangle 2"/>
          <p:cNvSpPr/>
          <p:nvPr/>
        </p:nvSpPr>
        <p:spPr>
          <a:xfrm>
            <a:off x="3226108" y="484137"/>
            <a:ext cx="3989361" cy="507831"/>
          </a:xfrm>
          <a:prstGeom prst="rect">
            <a:avLst/>
          </a:prstGeom>
        </p:spPr>
        <p:txBody>
          <a:bodyPr wrap="none">
            <a:spAutoFit/>
          </a:bodyPr>
          <a:lstStyle/>
          <a:p>
            <a:pPr algn="ctr">
              <a:lnSpc>
                <a:spcPct val="150000"/>
              </a:lnSpc>
              <a:spcAft>
                <a:spcPts val="8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AND RESULTS</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417928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412966" y="816352"/>
            <a:ext cx="1839158"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HOME PAGE: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3"/>
          <p:cNvSpPr>
            <a:spLocks noChangeArrowheads="1"/>
          </p:cNvSpPr>
          <p:nvPr/>
        </p:nvSpPr>
        <p:spPr bwMode="auto">
          <a:xfrm>
            <a:off x="0" y="3248025"/>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descr="C:\Users\0618\Desktop\tk74938-detection-of-chronic-kidney-disease-using-deep-learning-V1\Documentation\Screenshots\Home.JPG"/>
          <p:cNvPicPr/>
          <p:nvPr/>
        </p:nvPicPr>
        <p:blipFill>
          <a:blip r:embed="rId2">
            <a:extLst>
              <a:ext uri="{28A0092B-C50C-407E-A947-70E740481C1C}">
                <a14:useLocalDpi xmlns:a14="http://schemas.microsoft.com/office/drawing/2010/main" xmlns="" val="0"/>
              </a:ext>
            </a:extLst>
          </a:blip>
          <a:srcRect/>
          <a:stretch>
            <a:fillRect/>
          </a:stretch>
        </p:blipFill>
        <p:spPr bwMode="auto">
          <a:xfrm>
            <a:off x="1925782" y="1352304"/>
            <a:ext cx="7557655" cy="4248641"/>
          </a:xfrm>
          <a:prstGeom prst="rect">
            <a:avLst/>
          </a:prstGeom>
          <a:noFill/>
          <a:ln>
            <a:noFill/>
          </a:ln>
        </p:spPr>
      </p:pic>
    </p:spTree>
    <p:extLst>
      <p:ext uri="{BB962C8B-B14F-4D97-AF65-F5344CB8AC3E}">
        <p14:creationId xmlns:p14="http://schemas.microsoft.com/office/powerpoint/2010/main" xmlns="" val="23473190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881052" y="702121"/>
            <a:ext cx="1937133"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ABOUT PAGE: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3"/>
          <p:cNvSpPr>
            <a:spLocks noChangeArrowheads="1"/>
          </p:cNvSpPr>
          <p:nvPr/>
        </p:nvSpPr>
        <p:spPr bwMode="auto">
          <a:xfrm>
            <a:off x="0" y="316230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descr="C:\Users\0618\Desktop\tk74938-detection-of-chronic-kidney-disease-using-deep-learning-V1\Documentation\Screenshots\About.JPG"/>
          <p:cNvPicPr/>
          <p:nvPr/>
        </p:nvPicPr>
        <p:blipFill>
          <a:blip r:embed="rId2">
            <a:extLst>
              <a:ext uri="{28A0092B-C50C-407E-A947-70E740481C1C}">
                <a14:useLocalDpi xmlns:a14="http://schemas.microsoft.com/office/drawing/2010/main" xmlns="" val="0"/>
              </a:ext>
            </a:extLst>
          </a:blip>
          <a:srcRect/>
          <a:stretch>
            <a:fillRect/>
          </a:stretch>
        </p:blipFill>
        <p:spPr bwMode="auto">
          <a:xfrm>
            <a:off x="1881052" y="1780973"/>
            <a:ext cx="8208818" cy="3677054"/>
          </a:xfrm>
          <a:prstGeom prst="rect">
            <a:avLst/>
          </a:prstGeom>
          <a:noFill/>
          <a:ln>
            <a:noFill/>
          </a:ln>
        </p:spPr>
      </p:pic>
    </p:spTree>
    <p:extLst>
      <p:ext uri="{BB962C8B-B14F-4D97-AF65-F5344CB8AC3E}">
        <p14:creationId xmlns:p14="http://schemas.microsoft.com/office/powerpoint/2010/main" xmlns="" val="137354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454971" y="985830"/>
            <a:ext cx="19553490"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UPLOAD PAGE: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3"/>
          <p:cNvSpPr>
            <a:spLocks noChangeArrowheads="1"/>
          </p:cNvSpPr>
          <p:nvPr/>
        </p:nvSpPr>
        <p:spPr bwMode="auto">
          <a:xfrm>
            <a:off x="1737360" y="4424771"/>
            <a:ext cx="1955349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6" name="Picture 5" descr="C:\Users\0618\Desktop\tk74938-detection-of-chronic-kidney-disease-using-deep-learning-V1\Documentation\Screenshots\Upload.JPG"/>
          <p:cNvPicPr/>
          <p:nvPr/>
        </p:nvPicPr>
        <p:blipFill>
          <a:blip r:embed="rId2">
            <a:extLst>
              <a:ext uri="{28A0092B-C50C-407E-A947-70E740481C1C}">
                <a14:useLocalDpi xmlns:a14="http://schemas.microsoft.com/office/drawing/2010/main" xmlns="" val="0"/>
              </a:ext>
            </a:extLst>
          </a:blip>
          <a:srcRect/>
          <a:stretch>
            <a:fillRect/>
          </a:stretch>
        </p:blipFill>
        <p:spPr bwMode="auto">
          <a:xfrm>
            <a:off x="2009775" y="1980883"/>
            <a:ext cx="8591550" cy="3619818"/>
          </a:xfrm>
          <a:prstGeom prst="rect">
            <a:avLst/>
          </a:prstGeom>
          <a:noFill/>
          <a:ln>
            <a:noFill/>
          </a:ln>
        </p:spPr>
      </p:pic>
    </p:spTree>
    <p:extLst>
      <p:ext uri="{BB962C8B-B14F-4D97-AF65-F5344CB8AC3E}">
        <p14:creationId xmlns:p14="http://schemas.microsoft.com/office/powerpoint/2010/main" xmlns="" val="4030560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979714" y="720628"/>
            <a:ext cx="2029017"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RESULT PAGE:</a:t>
            </a: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3"/>
          <p:cNvSpPr>
            <a:spLocks noChangeArrowheads="1"/>
          </p:cNvSpPr>
          <p:nvPr/>
        </p:nvSpPr>
        <p:spPr bwMode="auto">
          <a:xfrm>
            <a:off x="0" y="3524250"/>
            <a:ext cx="12192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descr="C:\Users\0618\Desktop\tk74938-detection-of-chronic-kidney-disease-using-deep-learning-V1\Documentation\Screenshots\Result.JPG"/>
          <p:cNvPicPr/>
          <p:nvPr/>
        </p:nvPicPr>
        <p:blipFill>
          <a:blip r:embed="rId2">
            <a:extLst>
              <a:ext uri="{28A0092B-C50C-407E-A947-70E740481C1C}">
                <a14:useLocalDpi xmlns:a14="http://schemas.microsoft.com/office/drawing/2010/main" xmlns="" val="0"/>
              </a:ext>
            </a:extLst>
          </a:blip>
          <a:srcRect/>
          <a:stretch>
            <a:fillRect/>
          </a:stretch>
        </p:blipFill>
        <p:spPr bwMode="auto">
          <a:xfrm>
            <a:off x="2216728" y="1691971"/>
            <a:ext cx="7349836" cy="3664557"/>
          </a:xfrm>
          <a:prstGeom prst="rect">
            <a:avLst/>
          </a:prstGeom>
          <a:noFill/>
          <a:ln>
            <a:noFill/>
          </a:ln>
        </p:spPr>
      </p:pic>
    </p:spTree>
    <p:extLst>
      <p:ext uri="{BB962C8B-B14F-4D97-AF65-F5344CB8AC3E}">
        <p14:creationId xmlns:p14="http://schemas.microsoft.com/office/powerpoint/2010/main" xmlns="" val="10465216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CONCLUSION</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340767" y="2031782"/>
            <a:ext cx="9737124" cy="3782061"/>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In terms of data imputation and sample diagnosis, the suggested CKD diagnostic approach is practical. The integrated model could obtain adequate accuracy after unsupervised imputation of missing values in the data set using Mobile net imputation. As a result, we believe that applying this technique to the practical diagnosis of CKD will have a positive outcome. Furthermore, this technology might be used to clinical data from various disorders in real-world medical diagnosis. However, because of the restrictions of the conditions, the available data samples are relatively small throughout the model's development; the model's generalization performance may be limited. Furthermore, because there are only four types of data samples in the data (</a:t>
            </a:r>
            <a:r>
              <a:rPr lang="en-US" dirty="0" err="1">
                <a:latin typeface="Times New Roman" panose="02020603050405020304" pitchFamily="18" charset="0"/>
                <a:cs typeface="Times New Roman" panose="02020603050405020304" pitchFamily="18" charset="0"/>
              </a:rPr>
              <a:t>ckd</a:t>
            </a:r>
            <a:r>
              <a:rPr lang="en-US" dirty="0">
                <a:latin typeface="Times New Roman" panose="02020603050405020304" pitchFamily="18" charset="0"/>
                <a:cs typeface="Times New Roman" panose="02020603050405020304" pitchFamily="18" charset="0"/>
              </a:rPr>
              <a:t> and not </a:t>
            </a:r>
            <a:r>
              <a:rPr lang="en-US" dirty="0" err="1">
                <a:latin typeface="Times New Roman" panose="02020603050405020304" pitchFamily="18" charset="0"/>
                <a:cs typeface="Times New Roman" panose="02020603050405020304" pitchFamily="18" charset="0"/>
              </a:rPr>
              <a:t>ckd</a:t>
            </a:r>
            <a:r>
              <a:rPr lang="en-US" dirty="0">
                <a:latin typeface="Times New Roman" panose="02020603050405020304" pitchFamily="18" charset="0"/>
                <a:cs typeface="Times New Roman" panose="02020603050405020304" pitchFamily="18" charset="0"/>
              </a:rPr>
              <a:t>), set, and the model cannot diagnose the severity of CKD.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087110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FUTURE ENHANCEMENT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254034" y="1979530"/>
            <a:ext cx="9405257" cy="216065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the future, a large number of more complex and representative data will be collected to train the model to improve the generalization performance while enabling it to detect the severity of the disease. We believe that this model will be more and more perfect by the increase of size and quality of the data.</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957060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992" y="1053576"/>
            <a:ext cx="9382318" cy="5124480"/>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1. Tang, J., Liu, R., Zhang, Y. et al. (2018). "</a:t>
            </a:r>
            <a:r>
              <a:rPr lang="en-US" dirty="0" err="1">
                <a:latin typeface="Times New Roman" panose="02020603050405020304" pitchFamily="18" charset="0"/>
                <a:cs typeface="Times New Roman" panose="02020603050405020304" pitchFamily="18" charset="0"/>
              </a:rPr>
              <a:t>DeepKidney</a:t>
            </a:r>
            <a:r>
              <a:rPr lang="en-US" dirty="0">
                <a:latin typeface="Times New Roman" panose="02020603050405020304" pitchFamily="18" charset="0"/>
                <a:cs typeface="Times New Roman" panose="02020603050405020304" pitchFamily="18" charset="0"/>
              </a:rPr>
              <a:t>: Deep Learning for Kidney Tissue Classification." Scientific Reports, 8(1), 1-9. DOI: 10.1038/s41598-018-22549-w.</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Jirayucharoensak</a:t>
            </a:r>
            <a:r>
              <a:rPr lang="en-US" dirty="0">
                <a:latin typeface="Times New Roman" panose="02020603050405020304" pitchFamily="18" charset="0"/>
                <a:cs typeface="Times New Roman" panose="02020603050405020304" pitchFamily="18" charset="0"/>
              </a:rPr>
              <a:t>, S., Pan-</a:t>
            </a:r>
            <a:r>
              <a:rPr lang="en-US" dirty="0" err="1">
                <a:latin typeface="Times New Roman" panose="02020603050405020304" pitchFamily="18" charset="0"/>
                <a:cs typeface="Times New Roman" panose="02020603050405020304" pitchFamily="18" charset="0"/>
              </a:rPr>
              <a:t>Ngum</a:t>
            </a:r>
            <a:r>
              <a:rPr lang="en-US" dirty="0">
                <a:latin typeface="Times New Roman" panose="02020603050405020304" pitchFamily="18" charset="0"/>
                <a:cs typeface="Times New Roman" panose="02020603050405020304" pitchFamily="18" charset="0"/>
              </a:rPr>
              <a:t>, S., &amp; </a:t>
            </a:r>
            <a:r>
              <a:rPr lang="en-US" dirty="0" err="1">
                <a:latin typeface="Times New Roman" panose="02020603050405020304" pitchFamily="18" charset="0"/>
                <a:cs typeface="Times New Roman" panose="02020603050405020304" pitchFamily="18" charset="0"/>
              </a:rPr>
              <a:t>Israsena</a:t>
            </a:r>
            <a:r>
              <a:rPr lang="en-US" dirty="0">
                <a:latin typeface="Times New Roman" panose="02020603050405020304" pitchFamily="18" charset="0"/>
                <a:cs typeface="Times New Roman" panose="02020603050405020304" pitchFamily="18" charset="0"/>
              </a:rPr>
              <a:t>, P. (2019). "Automatic kidney disease diagnosis from ultrasound images using deep convolutional neural networks." Journal of Digital Imaging, 32(3), 469-478. DOI: 10.1007/s10278-018-0137-4.</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3. Liang, M., Ni, Z., &amp; Yan, P. (2018). "Chronic kidney disease classification using deep convolutional neural networks." Multimedia Tools and Applications, 77(12), 16083-16093. DOI: 10.1007/s11042-018-5992-2.</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4. Islam, M. T., Rahman, M. M., Islam, M. Z., &amp; Zhang, Y. (2018). "Kidney disease classification from ultrasonic images using deep convolutional neural networks." Journal of Ambient Intelligence and Humanized Computing, 9(4), 989-999. DOI: 10.1007/s12652-017-0571-1.</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55209" y="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xmlns="" val="35479941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60</TotalTime>
  <Words>2972</Words>
  <Application>Microsoft Office PowerPoint</Application>
  <PresentationFormat>Custom</PresentationFormat>
  <Paragraphs>199</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Wood Type</vt:lpstr>
      <vt:lpstr>Detection Chronic Kidney Disease Using Deep Learning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Chronic Kidney Disease Using Deep Learning</dc:title>
  <dc:creator>D S Jashvitha Sai</dc:creator>
  <cp:lastModifiedBy>Hi</cp:lastModifiedBy>
  <cp:revision>7</cp:revision>
  <dcterms:created xsi:type="dcterms:W3CDTF">2023-10-03T11:16:57Z</dcterms:created>
  <dcterms:modified xsi:type="dcterms:W3CDTF">2025-02-05T06:26:40Z</dcterms:modified>
</cp:coreProperties>
</file>