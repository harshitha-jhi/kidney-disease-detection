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9" r:id="rId3"/>
    <p:sldId id="260" r:id="rId4"/>
    <p:sldId id="261" r:id="rId5"/>
    <p:sldId id="262" r:id="rId6"/>
    <p:sldId id="263" r:id="rId7"/>
    <p:sldId id="264" r:id="rId8"/>
    <p:sldId id="265" r:id="rId9"/>
    <p:sldId id="267" r:id="rId10"/>
    <p:sldId id="268" r:id="rId11"/>
    <p:sldId id="269" r:id="rId12"/>
    <p:sldId id="272" r:id="rId13"/>
    <p:sldId id="275" r:id="rId14"/>
    <p:sldId id="276" r:id="rId15"/>
    <p:sldId id="278" r:id="rId16"/>
    <p:sldId id="279" r:id="rId17"/>
    <p:sldId id="280"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14"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9" d="100"/>
          <a:sy n="69" d="100"/>
        </p:scale>
        <p:origin x="78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smtClean="0"/>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12/17/2024</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12/17/2024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12/17/2024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12/17/2024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12/17/2024</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12/17/2024</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12/17/2024</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sz="2800" b="1" dirty="0">
                <a:latin typeface="Times New Roman" panose="02020603050405020304" pitchFamily="18" charset="0"/>
                <a:cs typeface="Times New Roman" panose="02020603050405020304" pitchFamily="18" charset="0"/>
              </a:rPr>
              <a:t>Detection Chronic Kidney Disease Using Deep Learning</a:t>
            </a:r>
            <a:r>
              <a:rPr lang="en-IN" dirty="0"/>
              <a:t/>
            </a:r>
            <a:br>
              <a:rPr lang="en-IN" dirty="0"/>
            </a:br>
            <a:endParaRPr lang="en-IN" dirty="0"/>
          </a:p>
        </p:txBody>
      </p:sp>
    </p:spTree>
    <p:extLst>
      <p:ext uri="{BB962C8B-B14F-4D97-AF65-F5344CB8AC3E}">
        <p14:creationId xmlns:p14="http://schemas.microsoft.com/office/powerpoint/2010/main" val="2622277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89775" y="733167"/>
            <a:ext cx="8596668" cy="682580"/>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smtClean="0">
                <a:solidFill>
                  <a:schemeClr val="tx1"/>
                </a:solidFill>
              </a:rPr>
              <a:t>                            INDEX</a:t>
            </a:r>
            <a:endParaRPr lang="en-US" b="1" dirty="0">
              <a:solidFill>
                <a:schemeClr val="tx1"/>
              </a:solidFill>
            </a:endParaRPr>
          </a:p>
        </p:txBody>
      </p:sp>
      <p:sp>
        <p:nvSpPr>
          <p:cNvPr id="3" name="Content Placeholder 2"/>
          <p:cNvSpPr txBox="1"/>
          <p:nvPr/>
        </p:nvSpPr>
        <p:spPr>
          <a:xfrm>
            <a:off x="1436954" y="1087395"/>
            <a:ext cx="3957667" cy="5082746"/>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Scope &amp; Motivation</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sz="1400" dirty="0" smtClean="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Advantages</a:t>
            </a:r>
          </a:p>
          <a:p>
            <a:pPr lvl="2">
              <a:lnSpc>
                <a:spcPct val="170000"/>
              </a:lnSpc>
              <a:buFont typeface="Wingdings" panose="05000000000000000000" pitchFamily="2" charset="2"/>
              <a:buChar char="v"/>
            </a:pPr>
            <a:endParaRPr lang="en-US" sz="1400" dirty="0" smtClean="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endParaRPr lang="en-US" sz="1400" dirty="0" smtClean="0">
              <a:latin typeface="Times New Roman" panose="02020603050405020304" pitchFamily="18" charset="0"/>
              <a:cs typeface="Times New Roman" panose="02020603050405020304" pitchFamily="18" charset="0"/>
            </a:endParaRPr>
          </a:p>
          <a:p>
            <a:pPr marL="768350" lvl="2" indent="0">
              <a:lnSpc>
                <a:spcPct val="170000"/>
              </a:lnSpc>
              <a:buNone/>
            </a:pPr>
            <a:endParaRPr lang="en-US" sz="1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1800" dirty="0" smtClean="0">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5394622" y="1348693"/>
            <a:ext cx="5561701" cy="48217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Project Flow</a:t>
            </a: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Hardware </a:t>
            </a:r>
            <a:r>
              <a:rPr lang="en-US" dirty="0">
                <a:latin typeface="Times New Roman" panose="02020603050405020304" pitchFamily="18" charset="0"/>
                <a:cs typeface="Times New Roman" panose="02020603050405020304" pitchFamily="18" charset="0"/>
              </a:rPr>
              <a:t>and Software </a:t>
            </a:r>
            <a:r>
              <a:rPr lang="en-US" dirty="0" smtClean="0">
                <a:latin typeface="Times New Roman" panose="02020603050405020304" pitchFamily="18" charset="0"/>
                <a:cs typeface="Times New Roman" panose="02020603050405020304" pitchFamily="18" charset="0"/>
              </a:rPr>
              <a:t>Requirements</a:t>
            </a: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Architecture</a:t>
            </a:r>
            <a:endParaRPr lang="en-US"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UML Diagram</a:t>
            </a: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a:p>
            <a:pPr marL="768350" lvl="2" indent="0">
              <a:lnSpc>
                <a:spcPct val="170000"/>
              </a:lnSpc>
              <a:buNone/>
            </a:pPr>
            <a:r>
              <a:rPr lang="en-US" dirty="0" smtClean="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endParaRPr lang="en-US" sz="1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839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348742" y="226540"/>
            <a:ext cx="8596668"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smtClean="0">
                <a:latin typeface="Times New Roman" panose="02020603050405020304" pitchFamily="18" charset="0"/>
                <a:cs typeface="Times New Roman" panose="02020603050405020304" pitchFamily="18" charset="0"/>
              </a:rPr>
              <a:t>    ABSTRACT</a:t>
            </a: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514775" y="1204169"/>
            <a:ext cx="11058915" cy="507831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Chronic kidney disease (CKD) is a global health issue that causes a high incidence of morbidity and death, as well as the onset of additional illnesses. Because there are no clear symptoms in the early stages of CKD, people frequently miss it. Early identification of CKD allows patients to obtain prompt therapy to slow the disease's development. Due of their rapid and precise identification capabilities, deep learning models can successfully assist doctors in achieving this aim. We present a machine-learning framework for diagnosing CKD in this paper. The CKD data set was collected from the deep learning repository at the University of California, Irvine (UCI). As a result, it will determine whether or not a patient has CKD and, if so, whether or not further drugs should be taken. Deep learning algorithms (CNN, Mobile net and kidney disease) were used to establish models. Among these deep learning models, random forest achieved the best accuracy. By analyzing the misjudgments generated by the established models, we proposed an integrated model that combines logistic regression and random forest by using perceptron, best accuracy hence; we speculated that this methodology could be applicable to more complicated clinical data for disease diagnosis.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Keywords</a:t>
            </a:r>
            <a:r>
              <a:rPr lang="en-US" dirty="0">
                <a:latin typeface="Times New Roman" panose="02020603050405020304" pitchFamily="18" charset="0"/>
                <a:cs typeface="Times New Roman" panose="02020603050405020304" pitchFamily="18" charset="0"/>
              </a:rPr>
              <a:t>: - CNN, Mobile net and kidney chronic disease.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0290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54868" y="88968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OBJECTIVE OF PROJECT</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2273643" y="2001795"/>
            <a:ext cx="8468498" cy="1704569"/>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The objective of this study is to develop a deep learning-based model for the early detection and diagnosis of chronic kidney disease (CKD). Leveraging medical data, this research aims to create an accurate and efficient system capable of predicting CKD risk factors, thereby facilitating timely intervention and improved patient outcomes.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2984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80463"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PROBLEM STATEMENT</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796655" y="1623209"/>
            <a:ext cx="8509940" cy="2951064"/>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The problem is to develop a deep learning-based model for the early detection of chronic kidney disease (CKD). This model should analyze patient data, including clinical measurements, medical history, and laboratory test results, to accurately predict the presence of CKD. Early detection is crucial for timely intervention and prevention of CKD progression, which can lead to severe health complications. The goal is to create an efficient and reliable tool to assist healthcare providers in diagnosing CKD at an earlier stage, improving patient outcomes and reducing healthcare costs.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9652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73455" y="2045977"/>
            <a:ext cx="8470989" cy="2120068"/>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scope of detecting chronic kidney disease using deep learning encompasses leveraging advanced neural networks and medical data to develop accurate predictive models. This includes early diagnosis, risk assessment, and treatment optimization, contributing to improved patient care, reduced healthcare costs, and enhanced overall public health through proactive CKD management.</a:t>
            </a:r>
            <a:endParaRPr lang="en-IN" dirty="0">
              <a:latin typeface="Times New Roman" panose="02020603050405020304" pitchFamily="18" charset="0"/>
              <a:cs typeface="Times New Roman" panose="02020603050405020304" pitchFamily="18" charset="0"/>
            </a:endParaRPr>
          </a:p>
        </p:txBody>
      </p:sp>
      <p:sp>
        <p:nvSpPr>
          <p:cNvPr id="3" name="Title 1"/>
          <p:cNvSpPr txBox="1"/>
          <p:nvPr/>
        </p:nvSpPr>
        <p:spPr>
          <a:xfrm>
            <a:off x="1647776" y="8144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SCOPE AND MOTIVATION</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550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5443" y="1614669"/>
            <a:ext cx="9094843" cy="2951064"/>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Detecting Chronic Kidney Disease through Deep Learning is not just a scientific endeavor; it's a path to saving lives. By harnessing the power of artificial intelligence, we empower healthcare professionals with rapid, accurate diagnoses, enabling early intervention and improving patient outcomes. With every line of code and every data point analyzed, we contribute to a future where individuals can lead healthier lives, reducing the burden of this silent but deadly disease on global healthcare systems. This pursuit is not just about technology; it's about the profound impact it can have on human health and well-being.</a:t>
            </a:r>
            <a:endParaRPr lang="en-IN" dirty="0">
              <a:latin typeface="Times New Roman" panose="02020603050405020304" pitchFamily="18" charset="0"/>
              <a:cs typeface="Times New Roman" panose="02020603050405020304" pitchFamily="18" charset="0"/>
            </a:endParaRPr>
          </a:p>
        </p:txBody>
      </p:sp>
      <p:sp>
        <p:nvSpPr>
          <p:cNvPr id="3" name="Title 1"/>
          <p:cNvSpPr txBox="1"/>
          <p:nvPr/>
        </p:nvSpPr>
        <p:spPr>
          <a:xfrm>
            <a:off x="1464896"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SCOPE AND MOTIVATION</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1547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0080" y="1363597"/>
            <a:ext cx="10487827" cy="507831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Chronic Kidney Disease (CKD) is a global healthcare concern with a steadily increasing prevalence. It poses significant challenges for both patients and healthcare systems due to its often asymptomatic nature in the early stages and potential for severe complications, including end-stage renal disease. Early detection and timely intervention are crucial to slow the progression of CKD and improve patient outcomes. Traditional diagnostic methods rely on laboratory tests, which may not always be accessible or cost-effective.</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In recent years, Deep Learning (DL) techniques have shown immense promise in revolutionizing medical diagnostics, including the identification of CKD. DL models, such as Convolutional Neural Networks (CNNs) and Recurrent Neural Networks (RNNs), excel at extracting complex patterns and features from medical data, such as patient records, medical images, and genetic information. These models have the potential to enhance CKD detection by analyzing a multitude of factors and providing accurate predictions. This paper explores the application of DL in the early detection of CKD, emphasizing its potential to transform healthcare by facilitating proactive and personalized care for individuals at risk of this debilitating condition.</a:t>
            </a:r>
            <a:endParaRPr lang="en-IN" dirty="0">
              <a:latin typeface="Times New Roman" panose="02020603050405020304" pitchFamily="18" charset="0"/>
              <a:cs typeface="Times New Roman" panose="02020603050405020304" pitchFamily="18" charset="0"/>
            </a:endParaRPr>
          </a:p>
        </p:txBody>
      </p:sp>
      <p:sp>
        <p:nvSpPr>
          <p:cNvPr id="3" name="Title 1"/>
          <p:cNvSpPr txBox="1"/>
          <p:nvPr/>
        </p:nvSpPr>
        <p:spPr>
          <a:xfrm>
            <a:off x="1585659"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INTRODUCTION</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8571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042087080"/>
              </p:ext>
            </p:extLst>
          </p:nvPr>
        </p:nvGraphicFramePr>
        <p:xfrm>
          <a:off x="509451" y="794363"/>
          <a:ext cx="10842172" cy="4668520"/>
        </p:xfrm>
        <a:graphic>
          <a:graphicData uri="http://schemas.openxmlformats.org/drawingml/2006/table">
            <a:tbl>
              <a:tblPr firstRow="1" bandRow="1">
                <a:tableStyleId>{5C22544A-7EE6-4342-B048-85BDC9FD1C3A}</a:tableStyleId>
              </a:tblPr>
              <a:tblGrid>
                <a:gridCol w="860780">
                  <a:extLst>
                    <a:ext uri="{9D8B030D-6E8A-4147-A177-3AD203B41FA5}">
                      <a16:colId xmlns:a16="http://schemas.microsoft.com/office/drawing/2014/main" val="20000"/>
                    </a:ext>
                  </a:extLst>
                </a:gridCol>
                <a:gridCol w="1555424">
                  <a:extLst>
                    <a:ext uri="{9D8B030D-6E8A-4147-A177-3AD203B41FA5}">
                      <a16:colId xmlns:a16="http://schemas.microsoft.com/office/drawing/2014/main" val="20001"/>
                    </a:ext>
                  </a:extLst>
                </a:gridCol>
                <a:gridCol w="1818744">
                  <a:extLst>
                    <a:ext uri="{9D8B030D-6E8A-4147-A177-3AD203B41FA5}">
                      <a16:colId xmlns:a16="http://schemas.microsoft.com/office/drawing/2014/main" val="20002"/>
                    </a:ext>
                  </a:extLst>
                </a:gridCol>
                <a:gridCol w="1950537">
                  <a:extLst>
                    <a:ext uri="{9D8B030D-6E8A-4147-A177-3AD203B41FA5}">
                      <a16:colId xmlns:a16="http://schemas.microsoft.com/office/drawing/2014/main" val="20003"/>
                    </a:ext>
                  </a:extLst>
                </a:gridCol>
                <a:gridCol w="4656687">
                  <a:extLst>
                    <a:ext uri="{9D8B030D-6E8A-4147-A177-3AD203B41FA5}">
                      <a16:colId xmlns:a16="http://schemas.microsoft.com/office/drawing/2014/main" val="20004"/>
                    </a:ext>
                  </a:extLst>
                </a:gridCol>
              </a:tblGrid>
              <a:tr h="370840">
                <a:tc>
                  <a:txBody>
                    <a:bodyPr/>
                    <a:lstStyle/>
                    <a:p>
                      <a:r>
                        <a:rPr lang="en-US" dirty="0" smtClean="0"/>
                        <a:t>S.NO</a:t>
                      </a:r>
                      <a:endParaRPr lang="en-US" dirty="0"/>
                    </a:p>
                  </a:txBody>
                  <a:tcPr/>
                </a:tc>
                <a:tc>
                  <a:txBody>
                    <a:bodyPr/>
                    <a:lstStyle/>
                    <a:p>
                      <a:r>
                        <a:rPr lang="en-US" dirty="0" smtClean="0"/>
                        <a:t>YEAR</a:t>
                      </a:r>
                      <a:endParaRPr lang="en-US" dirty="0"/>
                    </a:p>
                  </a:txBody>
                  <a:tcPr/>
                </a:tc>
                <a:tc>
                  <a:txBody>
                    <a:bodyPr/>
                    <a:lstStyle/>
                    <a:p>
                      <a:r>
                        <a:rPr lang="en-US" dirty="0" smtClean="0"/>
                        <a:t>AUTHORS</a:t>
                      </a:r>
                      <a:endParaRPr lang="en-US" dirty="0"/>
                    </a:p>
                  </a:txBody>
                  <a:tcPr/>
                </a:tc>
                <a:tc>
                  <a:txBody>
                    <a:bodyPr/>
                    <a:lstStyle/>
                    <a:p>
                      <a:r>
                        <a:rPr lang="en-US" dirty="0" smtClean="0"/>
                        <a:t>TITLE</a:t>
                      </a:r>
                      <a:endParaRPr lang="en-US" dirty="0"/>
                    </a:p>
                  </a:txBody>
                  <a:tcPr/>
                </a:tc>
                <a:tc>
                  <a:txBody>
                    <a:bodyPr/>
                    <a:lstStyle/>
                    <a:p>
                      <a:r>
                        <a:rPr lang="en-US" dirty="0" smtClean="0"/>
                        <a:t>OUT COMES</a:t>
                      </a:r>
                      <a:endParaRPr lang="en-US" dirty="0"/>
                    </a:p>
                  </a:txBody>
                  <a:tcPr/>
                </a:tc>
                <a:extLst>
                  <a:ext uri="{0D108BD9-81ED-4DB2-BD59-A6C34878D82A}">
                    <a16:rowId xmlns:a16="http://schemas.microsoft.com/office/drawing/2014/main" val="10000"/>
                  </a:ext>
                </a:extLst>
              </a:tr>
              <a:tr h="370840">
                <a:tc>
                  <a:txBody>
                    <a:bodyPr/>
                    <a:lstStyle/>
                    <a:p>
                      <a:pPr algn="just">
                        <a:lnSpc>
                          <a:spcPct val="150000"/>
                        </a:lnSpc>
                      </a:pPr>
                      <a:r>
                        <a:rPr lang="en-US" sz="1800" b="0" dirty="0" smtClean="0">
                          <a:solidFill>
                            <a:schemeClr val="tx1"/>
                          </a:solidFill>
                          <a:latin typeface="Times New Roman" panose="02020603050405020304" pitchFamily="18" charset="0"/>
                          <a:cs typeface="Times New Roman" panose="02020603050405020304" pitchFamily="18" charset="0"/>
                        </a:rPr>
                        <a:t>1</a:t>
                      </a:r>
                      <a:endParaRPr lang="en-US" sz="18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smtClean="0">
                          <a:solidFill>
                            <a:schemeClr val="tx1"/>
                          </a:solidFill>
                          <a:effectLst/>
                          <a:latin typeface="Times New Roman" panose="02020603050405020304" pitchFamily="18" charset="0"/>
                          <a:ea typeface="+mn-ea"/>
                          <a:cs typeface="Times New Roman" panose="02020603050405020304" pitchFamily="18" charset="0"/>
                        </a:rPr>
                        <a:t>2018</a:t>
                      </a:r>
                    </a:p>
                    <a:p>
                      <a:pPr algn="just">
                        <a:lnSpc>
                          <a:spcPct val="150000"/>
                        </a:lnSpc>
                      </a:pPr>
                      <a:endParaRPr lang="en-US" sz="18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1" kern="1200" dirty="0" smtClean="0">
                          <a:solidFill>
                            <a:schemeClr val="tx1"/>
                          </a:solidFill>
                          <a:effectLst/>
                          <a:latin typeface="Times New Roman" panose="02020603050405020304" pitchFamily="18" charset="0"/>
                          <a:ea typeface="+mn-ea"/>
                          <a:cs typeface="Times New Roman" panose="02020603050405020304" pitchFamily="18" charset="0"/>
                        </a:rPr>
                        <a:t>Tang, J., Liu, R., Zhang</a:t>
                      </a:r>
                      <a:endParaRPr lang="en-US" sz="1800" b="0"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1" kern="1200" dirty="0" smtClean="0">
                          <a:solidFill>
                            <a:schemeClr val="tx1"/>
                          </a:solidFill>
                          <a:effectLst/>
                          <a:latin typeface="Times New Roman" panose="02020603050405020304" pitchFamily="18" charset="0"/>
                          <a:ea typeface="+mn-ea"/>
                          <a:cs typeface="Times New Roman" panose="02020603050405020304" pitchFamily="18" charset="0"/>
                        </a:rPr>
                        <a:t>Deep Learning for Kidney Tissue Classification</a:t>
                      </a:r>
                      <a:endParaRPr lang="en-US" sz="1800" b="0" kern="1200" dirty="0" smtClean="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a:lnSpc>
                          <a:spcPct val="150000"/>
                        </a:lnSpc>
                      </a:pPr>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A type of deep learning architecture known for its effectiveness in image analysis tasks, to tackle the challenging problem of kidney tissue classification</a:t>
                      </a:r>
                      <a:endParaRPr lang="en-US" sz="1800"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just">
                        <a:lnSpc>
                          <a:spcPct val="150000"/>
                        </a:lnSpc>
                      </a:pPr>
                      <a:r>
                        <a:rPr lang="en-US" sz="1800" b="0" dirty="0" smtClean="0">
                          <a:latin typeface="Times New Roman" panose="02020603050405020304" pitchFamily="18" charset="0"/>
                          <a:cs typeface="Times New Roman" panose="02020603050405020304" pitchFamily="18" charset="0"/>
                        </a:rPr>
                        <a:t>2</a:t>
                      </a:r>
                      <a:endParaRPr lang="en-US" sz="18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800" b="0" i="0" kern="1200" dirty="0" smtClean="0">
                          <a:solidFill>
                            <a:schemeClr val="dk1"/>
                          </a:solidFill>
                          <a:effectLst/>
                          <a:latin typeface="Times New Roman" panose="02020603050405020304" pitchFamily="18" charset="0"/>
                          <a:ea typeface="+mn-ea"/>
                          <a:cs typeface="Times New Roman" panose="02020603050405020304" pitchFamily="18" charset="0"/>
                        </a:rPr>
                        <a:t>2019</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1" kern="1200" dirty="0" err="1" smtClean="0">
                          <a:solidFill>
                            <a:schemeClr val="dk1"/>
                          </a:solidFill>
                          <a:effectLst/>
                          <a:latin typeface="Times New Roman" panose="02020603050405020304" pitchFamily="18" charset="0"/>
                          <a:ea typeface="+mn-ea"/>
                          <a:cs typeface="Times New Roman" panose="02020603050405020304" pitchFamily="18" charset="0"/>
                        </a:rPr>
                        <a:t>Jirayucharoensak</a:t>
                      </a:r>
                      <a:r>
                        <a:rPr lang="en-US" sz="1800" b="1" kern="1200" dirty="0" smtClean="0">
                          <a:solidFill>
                            <a:schemeClr val="dk1"/>
                          </a:solidFill>
                          <a:effectLst/>
                          <a:latin typeface="Times New Roman" panose="02020603050405020304" pitchFamily="18" charset="0"/>
                          <a:ea typeface="+mn-ea"/>
                          <a:cs typeface="Times New Roman" panose="02020603050405020304" pitchFamily="18" charset="0"/>
                        </a:rPr>
                        <a:t>, S., Pan-</a:t>
                      </a:r>
                      <a:r>
                        <a:rPr lang="en-US" sz="1800" b="1" kern="1200" dirty="0" err="1" smtClean="0">
                          <a:solidFill>
                            <a:schemeClr val="dk1"/>
                          </a:solidFill>
                          <a:effectLst/>
                          <a:latin typeface="Times New Roman" panose="02020603050405020304" pitchFamily="18" charset="0"/>
                          <a:ea typeface="+mn-ea"/>
                          <a:cs typeface="Times New Roman" panose="02020603050405020304" pitchFamily="18" charset="0"/>
                        </a:rPr>
                        <a:t>Ngum</a:t>
                      </a:r>
                      <a:r>
                        <a:rPr lang="en-US" sz="1800" b="1" kern="1200" dirty="0" smtClean="0">
                          <a:solidFill>
                            <a:schemeClr val="dk1"/>
                          </a:solidFill>
                          <a:effectLst/>
                          <a:latin typeface="Times New Roman" panose="02020603050405020304" pitchFamily="18" charset="0"/>
                          <a:ea typeface="+mn-ea"/>
                          <a:cs typeface="Times New Roman" panose="02020603050405020304" pitchFamily="18" charset="0"/>
                        </a:rPr>
                        <a:t>, S., &amp; </a:t>
                      </a:r>
                      <a:r>
                        <a:rPr lang="en-US" sz="1800" b="1" kern="1200" dirty="0" err="1" smtClean="0">
                          <a:solidFill>
                            <a:schemeClr val="dk1"/>
                          </a:solidFill>
                          <a:effectLst/>
                          <a:latin typeface="Times New Roman" panose="02020603050405020304" pitchFamily="18" charset="0"/>
                          <a:ea typeface="+mn-ea"/>
                          <a:cs typeface="Times New Roman" panose="02020603050405020304" pitchFamily="18" charset="0"/>
                        </a:rPr>
                        <a:t>Israsena</a:t>
                      </a: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1" kern="1200" dirty="0" smtClean="0">
                          <a:solidFill>
                            <a:schemeClr val="dk1"/>
                          </a:solidFill>
                          <a:effectLst/>
                          <a:latin typeface="Times New Roman" panose="02020603050405020304" pitchFamily="18" charset="0"/>
                          <a:ea typeface="+mn-ea"/>
                          <a:cs typeface="Times New Roman" panose="02020603050405020304" pitchFamily="18" charset="0"/>
                        </a:rPr>
                        <a:t>Automatic kidney disease diagnosis from ultrasound images using deep convolutional neural networks</a:t>
                      </a: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kern="1200" dirty="0" smtClean="0">
                          <a:solidFill>
                            <a:schemeClr val="dk1"/>
                          </a:solidFill>
                          <a:effectLst/>
                          <a:latin typeface="Times New Roman" panose="02020603050405020304" pitchFamily="18" charset="0"/>
                          <a:ea typeface="+mn-ea"/>
                          <a:cs typeface="Times New Roman" panose="02020603050405020304" pitchFamily="18" charset="0"/>
                        </a:rPr>
                        <a:t>Kidney disease is a prevalent health issue, and early detection is crucial for effective treatment and management. Traditional diagnosis methods can be time-consuming and subjective, making the need for automated and accurate diagnostic tools essential</a:t>
                      </a:r>
                      <a:endParaRPr lang="en-US"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441830" y="-13651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LITERATURE SURVEY</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4747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954915388"/>
              </p:ext>
            </p:extLst>
          </p:nvPr>
        </p:nvGraphicFramePr>
        <p:xfrm>
          <a:off x="418011" y="572295"/>
          <a:ext cx="11168742" cy="5080000"/>
        </p:xfrm>
        <a:graphic>
          <a:graphicData uri="http://schemas.openxmlformats.org/drawingml/2006/table">
            <a:tbl>
              <a:tblPr firstRow="1" bandRow="1">
                <a:tableStyleId>{5C22544A-7EE6-4342-B048-85BDC9FD1C3A}</a:tableStyleId>
              </a:tblPr>
              <a:tblGrid>
                <a:gridCol w="886708">
                  <a:extLst>
                    <a:ext uri="{9D8B030D-6E8A-4147-A177-3AD203B41FA5}">
                      <a16:colId xmlns:a16="http://schemas.microsoft.com/office/drawing/2014/main" val="20000"/>
                    </a:ext>
                  </a:extLst>
                </a:gridCol>
                <a:gridCol w="1602274">
                  <a:extLst>
                    <a:ext uri="{9D8B030D-6E8A-4147-A177-3AD203B41FA5}">
                      <a16:colId xmlns:a16="http://schemas.microsoft.com/office/drawing/2014/main" val="20001"/>
                    </a:ext>
                  </a:extLst>
                </a:gridCol>
                <a:gridCol w="1873525">
                  <a:extLst>
                    <a:ext uri="{9D8B030D-6E8A-4147-A177-3AD203B41FA5}">
                      <a16:colId xmlns:a16="http://schemas.microsoft.com/office/drawing/2014/main" val="20002"/>
                    </a:ext>
                  </a:extLst>
                </a:gridCol>
                <a:gridCol w="2009287">
                  <a:extLst>
                    <a:ext uri="{9D8B030D-6E8A-4147-A177-3AD203B41FA5}">
                      <a16:colId xmlns:a16="http://schemas.microsoft.com/office/drawing/2014/main" val="20003"/>
                    </a:ext>
                  </a:extLst>
                </a:gridCol>
                <a:gridCol w="4796948">
                  <a:extLst>
                    <a:ext uri="{9D8B030D-6E8A-4147-A177-3AD203B41FA5}">
                      <a16:colId xmlns:a16="http://schemas.microsoft.com/office/drawing/2014/main" val="20004"/>
                    </a:ext>
                  </a:extLst>
                </a:gridCol>
              </a:tblGrid>
              <a:tr h="370840">
                <a:tc>
                  <a:txBody>
                    <a:bodyPr/>
                    <a:lstStyle/>
                    <a:p>
                      <a:r>
                        <a:rPr lang="en-US" dirty="0" smtClean="0"/>
                        <a:t>S.NO</a:t>
                      </a:r>
                      <a:endParaRPr lang="en-US" dirty="0"/>
                    </a:p>
                  </a:txBody>
                  <a:tcPr/>
                </a:tc>
                <a:tc>
                  <a:txBody>
                    <a:bodyPr/>
                    <a:lstStyle/>
                    <a:p>
                      <a:r>
                        <a:rPr lang="en-US" dirty="0" smtClean="0"/>
                        <a:t>YEAR</a:t>
                      </a:r>
                      <a:endParaRPr lang="en-US" dirty="0"/>
                    </a:p>
                  </a:txBody>
                  <a:tcPr/>
                </a:tc>
                <a:tc>
                  <a:txBody>
                    <a:bodyPr/>
                    <a:lstStyle/>
                    <a:p>
                      <a:r>
                        <a:rPr lang="en-US" dirty="0" smtClean="0"/>
                        <a:t>AUTHORS</a:t>
                      </a:r>
                      <a:endParaRPr lang="en-US" dirty="0"/>
                    </a:p>
                  </a:txBody>
                  <a:tcPr/>
                </a:tc>
                <a:tc>
                  <a:txBody>
                    <a:bodyPr/>
                    <a:lstStyle/>
                    <a:p>
                      <a:r>
                        <a:rPr lang="en-US" dirty="0" smtClean="0"/>
                        <a:t>TITLE</a:t>
                      </a:r>
                      <a:endParaRPr lang="en-US" dirty="0"/>
                    </a:p>
                  </a:txBody>
                  <a:tcPr/>
                </a:tc>
                <a:tc>
                  <a:txBody>
                    <a:bodyPr/>
                    <a:lstStyle/>
                    <a:p>
                      <a:r>
                        <a:rPr lang="en-US" dirty="0" smtClean="0"/>
                        <a:t>OUT COMES</a:t>
                      </a:r>
                      <a:endParaRPr lang="en-US" dirty="0"/>
                    </a:p>
                  </a:txBody>
                  <a:tcPr/>
                </a:tc>
                <a:extLst>
                  <a:ext uri="{0D108BD9-81ED-4DB2-BD59-A6C34878D82A}">
                    <a16:rowId xmlns:a16="http://schemas.microsoft.com/office/drawing/2014/main" val="10000"/>
                  </a:ext>
                </a:extLst>
              </a:tr>
              <a:tr h="370840">
                <a:tc>
                  <a:txBody>
                    <a:bodyPr/>
                    <a:lstStyle/>
                    <a:p>
                      <a:pPr algn="just">
                        <a:lnSpc>
                          <a:spcPct val="150000"/>
                        </a:lnSpc>
                      </a:pPr>
                      <a:r>
                        <a:rPr lang="en-US" sz="1800" b="0" dirty="0" smtClean="0">
                          <a:latin typeface="Times New Roman" panose="02020603050405020304" pitchFamily="18" charset="0"/>
                          <a:cs typeface="Times New Roman" panose="02020603050405020304" pitchFamily="18" charset="0"/>
                        </a:rPr>
                        <a:t>3</a:t>
                      </a: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smtClean="0">
                          <a:solidFill>
                            <a:schemeClr val="tx1"/>
                          </a:solidFill>
                          <a:effectLst/>
                          <a:latin typeface="Times New Roman" panose="02020603050405020304" pitchFamily="18" charset="0"/>
                          <a:ea typeface="+mn-ea"/>
                          <a:cs typeface="Times New Roman" panose="02020603050405020304" pitchFamily="18" charset="0"/>
                        </a:rPr>
                        <a:t>2018</a:t>
                      </a:r>
                    </a:p>
                  </a:txBody>
                  <a:tcPr/>
                </a:tc>
                <a:tc>
                  <a:txBody>
                    <a:bodyPr/>
                    <a:lstStyle/>
                    <a:p>
                      <a:pPr algn="just">
                        <a:lnSpc>
                          <a:spcPct val="150000"/>
                        </a:lnSpc>
                      </a:pPr>
                      <a:r>
                        <a:rPr lang="en-US" sz="1800" b="0" kern="1200" dirty="0" smtClean="0">
                          <a:solidFill>
                            <a:schemeClr val="dk1"/>
                          </a:solidFill>
                          <a:effectLst/>
                          <a:latin typeface="Times New Roman" panose="02020603050405020304" pitchFamily="18" charset="0"/>
                          <a:ea typeface="+mn-ea"/>
                          <a:cs typeface="Times New Roman" panose="02020603050405020304" pitchFamily="18" charset="0"/>
                        </a:rPr>
                        <a:t> Liang, M., Ni, Z., &amp; Yan</a:t>
                      </a:r>
                      <a:endParaRPr lang="en-US"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800" b="0" kern="1200" dirty="0" smtClean="0">
                          <a:solidFill>
                            <a:schemeClr val="dk1"/>
                          </a:solidFill>
                          <a:effectLst/>
                          <a:latin typeface="Times New Roman" panose="02020603050405020304" pitchFamily="18" charset="0"/>
                          <a:ea typeface="+mn-ea"/>
                          <a:cs typeface="Times New Roman" panose="02020603050405020304" pitchFamily="18" charset="0"/>
                        </a:rPr>
                        <a:t>Chronic kidney disease classification using deep convolutional neural networks</a:t>
                      </a:r>
                      <a:endParaRPr lang="en-US"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kern="1200" dirty="0" smtClean="0">
                          <a:solidFill>
                            <a:schemeClr val="dk1"/>
                          </a:solidFill>
                          <a:effectLst/>
                          <a:latin typeface="Times New Roman" panose="02020603050405020304" pitchFamily="18" charset="0"/>
                          <a:ea typeface="+mn-ea"/>
                          <a:cs typeface="Times New Roman" panose="02020603050405020304" pitchFamily="18" charset="0"/>
                        </a:rPr>
                        <a:t>In this research, the authors leveraged the power of deep convolutional neural networks (CNNs), a type of deep learning model well known for its effectiveness in image classification tasks.</a:t>
                      </a:r>
                      <a:endParaRPr lang="en-US"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pPr algn="just">
                        <a:lnSpc>
                          <a:spcPct val="150000"/>
                        </a:lnSpc>
                      </a:pPr>
                      <a:r>
                        <a:rPr lang="en-US" sz="1800" b="0" dirty="0" smtClean="0">
                          <a:latin typeface="Times New Roman" panose="02020603050405020304" pitchFamily="18" charset="0"/>
                          <a:cs typeface="Times New Roman" panose="02020603050405020304" pitchFamily="18" charset="0"/>
                        </a:rPr>
                        <a:t>4</a:t>
                      </a:r>
                      <a:endParaRPr lang="en-US" sz="1800" b="0" dirty="0">
                        <a:latin typeface="Times New Roman" panose="02020603050405020304" pitchFamily="18" charset="0"/>
                        <a:cs typeface="Times New Roman" panose="02020603050405020304" pitchFamily="18" charset="0"/>
                      </a:endParaRPr>
                    </a:p>
                  </a:txBody>
                  <a:tcPr/>
                </a:tc>
                <a:tc>
                  <a:txBody>
                    <a:bodyPr/>
                    <a:lstStyle/>
                    <a:p>
                      <a:pPr marL="0" marR="0" indent="0" algn="just" defTabSz="457200" rtl="0" eaLnBrk="1" fontAlgn="auto" latinLnBrk="0" hangingPunct="1">
                        <a:lnSpc>
                          <a:spcPct val="150000"/>
                        </a:lnSpc>
                        <a:spcBef>
                          <a:spcPts val="0"/>
                        </a:spcBef>
                        <a:spcAft>
                          <a:spcPts val="0"/>
                        </a:spcAft>
                        <a:buClrTx/>
                        <a:buSzTx/>
                        <a:buFontTx/>
                        <a:buNone/>
                        <a:defRPr/>
                      </a:pPr>
                      <a:r>
                        <a:rPr lang="en-US" sz="1800" b="0" i="0" kern="1200" dirty="0" smtClean="0">
                          <a:solidFill>
                            <a:schemeClr val="dk1"/>
                          </a:solidFill>
                          <a:effectLst/>
                          <a:latin typeface="Times New Roman" panose="02020603050405020304" pitchFamily="18" charset="0"/>
                          <a:ea typeface="+mn-ea"/>
                          <a:cs typeface="Times New Roman" panose="02020603050405020304" pitchFamily="18" charset="0"/>
                        </a:rPr>
                        <a:t>2018</a:t>
                      </a:r>
                    </a:p>
                    <a:p>
                      <a:pPr algn="just">
                        <a:lnSpc>
                          <a:spcPct val="150000"/>
                        </a:lnSpc>
                      </a:pPr>
                      <a:endParaRPr lang="en-US" sz="1800" b="0" dirty="0">
                        <a:latin typeface="Times New Roman" panose="02020603050405020304" pitchFamily="18" charset="0"/>
                        <a:cs typeface="Times New Roman" panose="02020603050405020304" pitchFamily="18" charset="0"/>
                      </a:endParaRPr>
                    </a:p>
                  </a:txBody>
                  <a:tcPr/>
                </a:tc>
                <a:tc>
                  <a:txBody>
                    <a:bodyPr/>
                    <a:lstStyle/>
                    <a:p>
                      <a:pPr algn="just">
                        <a:lnSpc>
                          <a:spcPct val="150000"/>
                        </a:lnSpc>
                      </a:pPr>
                      <a:r>
                        <a:rPr lang="en-US" sz="1800" b="0" kern="1200" dirty="0" smtClean="0">
                          <a:solidFill>
                            <a:schemeClr val="dk1"/>
                          </a:solidFill>
                          <a:effectLst/>
                          <a:latin typeface="Times New Roman" panose="02020603050405020304" pitchFamily="18" charset="0"/>
                          <a:ea typeface="+mn-ea"/>
                          <a:cs typeface="Times New Roman" panose="02020603050405020304" pitchFamily="18" charset="0"/>
                        </a:rPr>
                        <a:t>Islam, M. T., Rahman, M. M., Islam</a:t>
                      </a:r>
                      <a:endParaRPr lang="en-US"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lnSpc>
                          <a:spcPct val="150000"/>
                        </a:lnSpc>
                      </a:pPr>
                      <a:r>
                        <a:rPr lang="en-US" sz="1800" b="0" kern="1200" dirty="0" smtClean="0">
                          <a:solidFill>
                            <a:schemeClr val="dk1"/>
                          </a:solidFill>
                          <a:effectLst/>
                          <a:latin typeface="Times New Roman" panose="02020603050405020304" pitchFamily="18" charset="0"/>
                          <a:ea typeface="+mn-ea"/>
                          <a:cs typeface="Times New Roman" panose="02020603050405020304" pitchFamily="18" charset="0"/>
                        </a:rPr>
                        <a:t>Kidney disease classification from ultrasonic images using deep convolutional neural networks</a:t>
                      </a:r>
                      <a:endParaRPr lang="en-US"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nSpc>
                          <a:spcPct val="150000"/>
                        </a:lnSpc>
                      </a:pPr>
                      <a:r>
                        <a:rPr lang="en-US" sz="1800" b="0" kern="1200" dirty="0" smtClean="0">
                          <a:solidFill>
                            <a:schemeClr val="dk1"/>
                          </a:solidFill>
                          <a:effectLst/>
                          <a:latin typeface="Times New Roman" panose="02020603050405020304" pitchFamily="18" charset="0"/>
                          <a:ea typeface="+mn-ea"/>
                          <a:cs typeface="Times New Roman" panose="02020603050405020304" pitchFamily="18" charset="0"/>
                        </a:rPr>
                        <a:t>The primary objective of this research was to develop an automated and accurate method for classifying kidney diseases based on ultrasound images, which are widely used in clinical practice due to their non-invasive nature</a:t>
                      </a:r>
                      <a:endParaRPr lang="en-IN" sz="1800" b="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
        <p:nvSpPr>
          <p:cNvPr id="3" name="Title 1"/>
          <p:cNvSpPr txBox="1"/>
          <p:nvPr/>
        </p:nvSpPr>
        <p:spPr>
          <a:xfrm>
            <a:off x="1245887" y="-358583"/>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LITERATURE SURVEY</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2443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133382" y="44931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EXISTING SYSTEM</a:t>
            </a:r>
            <a:endParaRPr lang="en-US" sz="3600" b="1" dirty="0">
              <a:latin typeface="Times New Roman" panose="02020603050405020304" pitchFamily="18" charset="0"/>
              <a:cs typeface="Times New Roman" panose="02020603050405020304" pitchFamily="18" charset="0"/>
            </a:endParaRPr>
          </a:p>
        </p:txBody>
      </p:sp>
      <p:sp>
        <p:nvSpPr>
          <p:cNvPr id="2" name="Rectangle 1"/>
          <p:cNvSpPr/>
          <p:nvPr/>
        </p:nvSpPr>
        <p:spPr>
          <a:xfrm>
            <a:off x="1275555" y="1733292"/>
            <a:ext cx="9135543" cy="3739485"/>
          </a:xfrm>
          <a:prstGeom prst="rect">
            <a:avLst/>
          </a:prstGeom>
        </p:spPr>
        <p:txBody>
          <a:bodyPr wrap="square">
            <a:spAutoFit/>
          </a:bodyPr>
          <a:lstStyle/>
          <a:p>
            <a:pPr algn="just">
              <a:lnSpc>
                <a:spcPct val="200000"/>
              </a:lnSpc>
            </a:pPr>
            <a:r>
              <a:rPr lang="en-US" dirty="0">
                <a:latin typeface="Times New Roman" panose="02020603050405020304" pitchFamily="18" charset="0"/>
                <a:cs typeface="Times New Roman" panose="02020603050405020304" pitchFamily="18" charset="0"/>
              </a:rPr>
              <a:t>Using training data set required Model is trained and tested. Respective Algorithm is they used along with trained model for CKD detection. As an Input, patient input parameter is given in system. Figures are analyzed using deep learning technique and diagnosis is done</a:t>
            </a:r>
            <a:r>
              <a:rPr lang="en-US" dirty="0" smtClean="0">
                <a:latin typeface="Times New Roman" panose="02020603050405020304" pitchFamily="18" charset="0"/>
                <a:cs typeface="Times New Roman" panose="02020603050405020304" pitchFamily="18" charset="0"/>
              </a:rPr>
              <a:t>.</a:t>
            </a:r>
          </a:p>
          <a:p>
            <a:pPr algn="just">
              <a:lnSpc>
                <a:spcPct val="200000"/>
              </a:lnSpc>
            </a:pPr>
            <a:endParaRPr lang="en-US" dirty="0">
              <a:latin typeface="Times New Roman" panose="02020603050405020304" pitchFamily="18" charset="0"/>
              <a:cs typeface="Times New Roman" panose="02020603050405020304" pitchFamily="18" charset="0"/>
            </a:endParaRPr>
          </a:p>
          <a:p>
            <a:pPr algn="just">
              <a:lnSpc>
                <a:spcPct val="200000"/>
              </a:lnSpc>
            </a:pPr>
            <a:r>
              <a:rPr lang="en-US" b="1" dirty="0" smtClean="0">
                <a:latin typeface="Times New Roman" panose="02020603050405020304" pitchFamily="18" charset="0"/>
                <a:cs typeface="Times New Roman" panose="02020603050405020304" pitchFamily="18" charset="0"/>
              </a:rPr>
              <a:t>Disadvantages:</a:t>
            </a:r>
          </a:p>
          <a:p>
            <a:pPr lvl="1">
              <a:lnSpc>
                <a:spcPct val="150000"/>
              </a:lnSpc>
            </a:pPr>
            <a:r>
              <a:rPr lang="en-US" sz="2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High complexity.</a:t>
            </a:r>
            <a:endParaRPr lang="en-IN" dirty="0">
              <a:latin typeface="Times New Roman" panose="02020603050405020304" pitchFamily="18" charset="0"/>
              <a:cs typeface="Times New Roman" panose="02020603050405020304" pitchFamily="18" charset="0"/>
            </a:endParaRPr>
          </a:p>
          <a:p>
            <a:pPr lvl="1">
              <a:lnSpc>
                <a:spcPct val="150000"/>
              </a:lnSpc>
            </a:pPr>
            <a:r>
              <a:rPr lang="en-US" dirty="0">
                <a:latin typeface="Times New Roman" panose="02020603050405020304" pitchFamily="18" charset="0"/>
                <a:cs typeface="Times New Roman" panose="02020603050405020304" pitchFamily="18" charset="0"/>
              </a:rPr>
              <a:t>2.Time consuming</a:t>
            </a:r>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4506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050257" y="618867"/>
            <a:ext cx="8596668" cy="819955"/>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smtClean="0">
                <a:latin typeface="Times New Roman" panose="02020603050405020304" pitchFamily="18" charset="0"/>
                <a:cs typeface="Times New Roman" panose="02020603050405020304" pitchFamily="18" charset="0"/>
              </a:rPr>
              <a:t>             PROPOSED METHOD</a:t>
            </a:r>
            <a:br>
              <a:rPr lang="en-US" sz="3600" b="1" dirty="0" smtClean="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385455" y="1812895"/>
            <a:ext cx="9533925" cy="429348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We are performing classification of either detecting chronic disease using Convolution Neural Network (CNN</a:t>
            </a:r>
            <a:r>
              <a:rPr lang="en-US" dirty="0" smtClean="0">
                <a:latin typeface="Times New Roman" panose="02020603050405020304" pitchFamily="18" charset="0"/>
                <a:cs typeface="Times New Roman" panose="02020603050405020304" pitchFamily="18" charset="0"/>
              </a:rPr>
              <a:t>) and </a:t>
            </a:r>
            <a:r>
              <a:rPr lang="en-US" smtClean="0">
                <a:latin typeface="Times New Roman" panose="02020603050405020304" pitchFamily="18" charset="0"/>
                <a:cs typeface="Times New Roman" panose="02020603050405020304" pitchFamily="18" charset="0"/>
              </a:rPr>
              <a:t>MobileNet </a:t>
            </a:r>
            <a:r>
              <a:rPr lang="en-US" dirty="0">
                <a:latin typeface="Times New Roman" panose="02020603050405020304" pitchFamily="18" charset="0"/>
                <a:cs typeface="Times New Roman" panose="02020603050405020304" pitchFamily="18" charset="0"/>
              </a:rPr>
              <a:t>of deep learning along with machine learning methods in the purposed method. As image analysis-based approaches for detecting kidney disease. As a result, proper classification is essential for proper treatment, which will be possible with our proposed </a:t>
            </a:r>
            <a:r>
              <a:rPr lang="en-US" dirty="0" smtClean="0">
                <a:latin typeface="Times New Roman" panose="02020603050405020304" pitchFamily="18" charset="0"/>
                <a:cs typeface="Times New Roman" panose="02020603050405020304" pitchFamily="18" charset="0"/>
              </a:rPr>
              <a:t>method</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smtClean="0">
                <a:latin typeface="Times New Roman" panose="02020603050405020304" pitchFamily="18" charset="0"/>
                <a:cs typeface="Times New Roman" panose="02020603050405020304" pitchFamily="18" charset="0"/>
              </a:rPr>
              <a:t>Advantages:</a:t>
            </a:r>
          </a:p>
          <a:p>
            <a:pPr marL="800100" lvl="1" indent="-342900" algn="just">
              <a:lnSpc>
                <a:spcPct val="150000"/>
              </a:lnSpc>
              <a:buAutoNum type="arabicPeriod"/>
            </a:pPr>
            <a:r>
              <a:rPr lang="en-US" dirty="0" smtClean="0">
                <a:latin typeface="Times New Roman" panose="02020603050405020304" pitchFamily="18" charset="0"/>
                <a:cs typeface="Times New Roman" panose="02020603050405020304" pitchFamily="18" charset="0"/>
              </a:rPr>
              <a:t>Highest Accuracy</a:t>
            </a:r>
          </a:p>
          <a:p>
            <a:pPr marL="800100" lvl="1" indent="-342900" algn="just">
              <a:lnSpc>
                <a:spcPct val="150000"/>
              </a:lnSpc>
              <a:buAutoNum type="arabicPeriod"/>
            </a:pPr>
            <a:r>
              <a:rPr lang="en-US" dirty="0" smtClean="0">
                <a:latin typeface="Times New Roman" panose="02020603050405020304" pitchFamily="18" charset="0"/>
                <a:cs typeface="Times New Roman" panose="02020603050405020304" pitchFamily="18" charset="0"/>
              </a:rPr>
              <a:t>2Reduces </a:t>
            </a:r>
            <a:r>
              <a:rPr lang="en-US" dirty="0">
                <a:latin typeface="Times New Roman" panose="02020603050405020304" pitchFamily="18" charset="0"/>
                <a:cs typeface="Times New Roman" panose="02020603050405020304" pitchFamily="18" charset="0"/>
              </a:rPr>
              <a:t>Time Complexity</a:t>
            </a:r>
            <a:endParaRPr lang="en-IN" dirty="0">
              <a:latin typeface="Times New Roman" panose="02020603050405020304" pitchFamily="18" charset="0"/>
              <a:cs typeface="Times New Roman" panose="02020603050405020304" pitchFamily="18" charset="0"/>
            </a:endParaRPr>
          </a:p>
          <a:p>
            <a:pPr marL="342900" indent="-342900" algn="just">
              <a:lnSpc>
                <a:spcPct val="150000"/>
              </a:lnSpc>
              <a:spcAft>
                <a:spcPts val="800"/>
              </a:spcAft>
              <a:buFont typeface="Wingdings" panose="05000000000000000000" pitchFamily="2" charset="2"/>
              <a:buChar char="Ø"/>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27627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274564" y="146329"/>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smtClean="0">
                <a:latin typeface="Times New Roman" panose="02020603050405020304" pitchFamily="18" charset="0"/>
                <a:cs typeface="Times New Roman" panose="02020603050405020304" pitchFamily="18" charset="0"/>
              </a:rPr>
              <a:t>  PROJECT FLLOW</a:t>
            </a:r>
            <a:br>
              <a:rPr lang="en-US" sz="3600" b="1" dirty="0" smtClean="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105666" y="5642919"/>
            <a:ext cx="4934464" cy="646331"/>
          </a:xfrm>
          <a:prstGeom prst="rect">
            <a:avLst/>
          </a:prstGeom>
          <a:noFill/>
        </p:spPr>
        <p:txBody>
          <a:bodyPr wrap="square" rtlCol="0">
            <a:spAutoFit/>
          </a:bodyPr>
          <a:lstStyle/>
          <a:p>
            <a:pPr algn="ctr"/>
            <a:r>
              <a:rPr lang="en-US" b="1" dirty="0" smtClean="0">
                <a:latin typeface="Times New Roman" panose="02020603050405020304" pitchFamily="18" charset="0"/>
                <a:cs typeface="Times New Roman" panose="02020603050405020304" pitchFamily="18" charset="0"/>
              </a:rPr>
              <a:t>Figure: </a:t>
            </a:r>
            <a:r>
              <a:rPr lang="en-US" dirty="0">
                <a:latin typeface="Times New Roman" panose="02020603050405020304" pitchFamily="18" charset="0"/>
                <a:cs typeface="Times New Roman" panose="02020603050405020304" pitchFamily="18" charset="0"/>
              </a:rPr>
              <a:t>work Flow of Proposed system</a:t>
            </a:r>
          </a:p>
          <a:p>
            <a:pPr algn="ctr"/>
            <a:endParaRPr lang="en-US"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3254282" y="940526"/>
            <a:ext cx="5066757" cy="4519748"/>
          </a:xfrm>
          <a:prstGeom prst="rect">
            <a:avLst/>
          </a:prstGeom>
          <a:noFill/>
          <a:ln>
            <a:noFill/>
          </a:ln>
        </p:spPr>
      </p:pic>
    </p:spTree>
    <p:extLst>
      <p:ext uri="{BB962C8B-B14F-4D97-AF65-F5344CB8AC3E}">
        <p14:creationId xmlns:p14="http://schemas.microsoft.com/office/powerpoint/2010/main" val="2152648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p:nvPr/>
        </p:nvSpPr>
        <p:spPr>
          <a:xfrm>
            <a:off x="2462753" y="975305"/>
            <a:ext cx="8295066" cy="3880022"/>
          </a:xfrm>
          <a:prstGeom prst="rect">
            <a:avLst/>
          </a:prstGeom>
        </p:spPr>
        <p:txBody>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Font typeface="Arial" panose="020B0604020202020204"/>
              <a:buNone/>
            </a:pPr>
            <a:r>
              <a:rPr lang="en-US" sz="1800" b="1" dirty="0" smtClean="0">
                <a:solidFill>
                  <a:schemeClr val="accent3">
                    <a:lumMod val="50000"/>
                  </a:schemeClr>
                </a:solidFill>
                <a:latin typeface="Times New Roman" panose="02020603050405020304" pitchFamily="18" charset="0"/>
                <a:cs typeface="Times New Roman" panose="02020603050405020304" pitchFamily="18" charset="0"/>
              </a:rPr>
              <a:t>SOFTWARE REQUIREMENS</a:t>
            </a:r>
          </a:p>
          <a:p>
            <a:pPr algn="just">
              <a:lnSpc>
                <a:spcPct val="150000"/>
              </a:lnSpc>
            </a:pPr>
            <a:r>
              <a:rPr lang="en-US" sz="1800" dirty="0">
                <a:latin typeface="Times New Roman" panose="02020603050405020304" pitchFamily="18" charset="0"/>
                <a:cs typeface="Times New Roman" panose="02020603050405020304" pitchFamily="18" charset="0"/>
              </a:rPr>
              <a:t>Operating System		</a:t>
            </a: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Windows 7/8/10</a:t>
            </a:r>
          </a:p>
          <a:p>
            <a:pPr algn="just">
              <a:lnSpc>
                <a:spcPct val="150000"/>
              </a:lnSpc>
            </a:pPr>
            <a:r>
              <a:rPr lang="en-US" sz="1800" dirty="0">
                <a:latin typeface="Times New Roman" panose="02020603050405020304" pitchFamily="18" charset="0"/>
                <a:cs typeface="Times New Roman" panose="02020603050405020304" pitchFamily="18" charset="0"/>
              </a:rPr>
              <a:t>Server side Script		</a:t>
            </a: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HTML, CSS, Bootstrap &amp; JS</a:t>
            </a:r>
          </a:p>
          <a:p>
            <a:pPr algn="just">
              <a:lnSpc>
                <a:spcPct val="150000"/>
              </a:lnSpc>
            </a:pPr>
            <a:r>
              <a:rPr lang="en-US" sz="1800" dirty="0">
                <a:latin typeface="Times New Roman" panose="02020603050405020304" pitchFamily="18" charset="0"/>
                <a:cs typeface="Times New Roman" panose="02020603050405020304" pitchFamily="18" charset="0"/>
              </a:rPr>
              <a:t>Programming Language	:  Python</a:t>
            </a:r>
          </a:p>
          <a:p>
            <a:pPr algn="just">
              <a:lnSpc>
                <a:spcPct val="150000"/>
              </a:lnSpc>
            </a:pPr>
            <a:r>
              <a:rPr lang="en-US" sz="1800" dirty="0">
                <a:latin typeface="Times New Roman" panose="02020603050405020304" pitchFamily="18" charset="0"/>
                <a:cs typeface="Times New Roman" panose="02020603050405020304" pitchFamily="18" charset="0"/>
              </a:rPr>
              <a:t>Libraries			</a:t>
            </a:r>
            <a:r>
              <a:rPr lang="en-US" sz="1800" dirty="0" smtClean="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Flask, Pandas, </a:t>
            </a:r>
            <a:r>
              <a:rPr lang="en-US" sz="1800" dirty="0" err="1">
                <a:latin typeface="Times New Roman" panose="02020603050405020304" pitchFamily="18" charset="0"/>
                <a:cs typeface="Times New Roman" panose="02020603050405020304" pitchFamily="18" charset="0"/>
              </a:rPr>
              <a:t>Mysql.connector</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Os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Smtplib</a:t>
            </a: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Numpy</a:t>
            </a:r>
            <a:endParaRPr lang="en-US"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IDE/Workbench		</a:t>
            </a:r>
            <a:r>
              <a:rPr lang="en-US" sz="1800" dirty="0" smtClean="0">
                <a:latin typeface="Times New Roman" panose="02020603050405020304" pitchFamily="18" charset="0"/>
                <a:cs typeface="Times New Roman" panose="02020603050405020304" pitchFamily="18" charset="0"/>
              </a:rPr>
              <a:t>	:  </a:t>
            </a:r>
            <a:r>
              <a:rPr lang="en-US" sz="1800" dirty="0" err="1" smtClean="0">
                <a:latin typeface="Times New Roman" panose="02020603050405020304" pitchFamily="18" charset="0"/>
                <a:cs typeface="Times New Roman" panose="02020603050405020304" pitchFamily="18" charset="0"/>
              </a:rPr>
              <a:t>PyCharm</a:t>
            </a:r>
            <a:endParaRPr lang="en-US" sz="1800" dirty="0" smtClean="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Technology				:  Python 3.6+</a:t>
            </a:r>
          </a:p>
          <a:p>
            <a:pPr algn="just">
              <a:lnSpc>
                <a:spcPct val="150000"/>
              </a:lnSpc>
            </a:pPr>
            <a:r>
              <a:rPr lang="en-US" sz="1800" dirty="0">
                <a:latin typeface="Times New Roman" panose="02020603050405020304" pitchFamily="18" charset="0"/>
                <a:cs typeface="Times New Roman" panose="02020603050405020304" pitchFamily="18" charset="0"/>
              </a:rPr>
              <a:t>Server Deployment			:  </a:t>
            </a:r>
            <a:r>
              <a:rPr lang="en-US" sz="1800" dirty="0" err="1">
                <a:latin typeface="Times New Roman" panose="02020603050405020304" pitchFamily="18" charset="0"/>
                <a:cs typeface="Times New Roman" panose="02020603050405020304" pitchFamily="18" charset="0"/>
              </a:rPr>
              <a:t>Xampp</a:t>
            </a:r>
            <a:r>
              <a:rPr lang="en-US" sz="1800" dirty="0">
                <a:latin typeface="Times New Roman" panose="02020603050405020304" pitchFamily="18" charset="0"/>
                <a:cs typeface="Times New Roman" panose="02020603050405020304" pitchFamily="18" charset="0"/>
              </a:rPr>
              <a:t> Server</a:t>
            </a:r>
          </a:p>
          <a:p>
            <a:pPr algn="just">
              <a:lnSpc>
                <a:spcPct val="150000"/>
              </a:lnSpc>
            </a:pPr>
            <a:r>
              <a:rPr lang="en-US" sz="1800" dirty="0">
                <a:latin typeface="Times New Roman" panose="02020603050405020304" pitchFamily="18" charset="0"/>
                <a:cs typeface="Times New Roman" panose="02020603050405020304" pitchFamily="18" charset="0"/>
              </a:rPr>
              <a:t>Database					:  MySQL</a:t>
            </a:r>
          </a:p>
          <a:p>
            <a:pPr algn="just">
              <a:lnSpc>
                <a:spcPct val="150000"/>
              </a:lnSpc>
            </a:pPr>
            <a:endParaRPr lang="en-US" sz="1800" dirty="0">
              <a:latin typeface="Times New Roman" panose="02020603050405020304" pitchFamily="18" charset="0"/>
              <a:cs typeface="Times New Roman" panose="02020603050405020304" pitchFamily="18" charset="0"/>
            </a:endParaRPr>
          </a:p>
        </p:txBody>
      </p:sp>
      <p:sp>
        <p:nvSpPr>
          <p:cNvPr id="5" name="Title 1"/>
          <p:cNvSpPr txBox="1"/>
          <p:nvPr/>
        </p:nvSpPr>
        <p:spPr>
          <a:xfrm>
            <a:off x="1492935" y="398901"/>
            <a:ext cx="8721984" cy="764881"/>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smtClean="0">
                <a:latin typeface="Times New Roman" panose="02020603050405020304" pitchFamily="18" charset="0"/>
                <a:cs typeface="Times New Roman" panose="02020603050405020304" pitchFamily="18" charset="0"/>
              </a:rPr>
              <a:t>HARDWARE &amp; SOFTWARE REQUIREMENTS</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0535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2815792" y="1365227"/>
            <a:ext cx="8596668" cy="3880773"/>
          </a:xfrm>
          <a:prstGeom prst="rect">
            <a:avLst/>
          </a:prstGeom>
        </p:spPr>
        <p:txBody>
          <a:bodyPr>
            <a:normAutofit fontScale="85000" lnSpcReduction="2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b="1" dirty="0">
                <a:solidFill>
                  <a:schemeClr val="accent3">
                    <a:lumMod val="50000"/>
                  </a:schemeClr>
                </a:solidFill>
                <a:latin typeface="Times New Roman" panose="02020603050405020304" pitchFamily="18" charset="0"/>
                <a:cs typeface="Times New Roman" panose="02020603050405020304" pitchFamily="18" charset="0"/>
              </a:rPr>
              <a:t>HARDWARE REQUIREMENTS</a:t>
            </a:r>
            <a:endParaRPr lang="en-US"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Processor            	                   - I3/Intel Processor</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RAM                                       - </a:t>
            </a:r>
            <a:r>
              <a:rPr lang="en-US" dirty="0" smtClean="0">
                <a:latin typeface="Times New Roman" panose="02020603050405020304" pitchFamily="18" charset="0"/>
                <a:cs typeface="Times New Roman" panose="02020603050405020304" pitchFamily="18" charset="0"/>
              </a:rPr>
              <a:t>8GB </a:t>
            </a:r>
            <a:r>
              <a:rPr lang="en-US" dirty="0">
                <a:latin typeface="Times New Roman" panose="02020603050405020304" pitchFamily="18" charset="0"/>
                <a:cs typeface="Times New Roman" panose="02020603050405020304" pitchFamily="18" charset="0"/>
              </a:rPr>
              <a:t>(min)</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Hard Disk                                - 128 GB</a:t>
            </a:r>
          </a:p>
          <a:p>
            <a:pPr algn="just">
              <a:lnSpc>
                <a:spcPct val="150000"/>
              </a:lnSpc>
            </a:pPr>
            <a:r>
              <a:rPr lang="en-US" dirty="0">
                <a:latin typeface="Times New Roman" panose="02020603050405020304" pitchFamily="18" charset="0"/>
                <a:cs typeface="Times New Roman" panose="02020603050405020304" pitchFamily="18" charset="0"/>
              </a:rPr>
              <a:t>Key Board                               - Standard Windows Keyboard</a:t>
            </a:r>
          </a:p>
          <a:p>
            <a:pPr algn="just">
              <a:lnSpc>
                <a:spcPct val="150000"/>
              </a:lnSpc>
            </a:pPr>
            <a:r>
              <a:rPr lang="en-US" dirty="0">
                <a:latin typeface="Times New Roman" panose="02020603050405020304" pitchFamily="18" charset="0"/>
                <a:cs typeface="Times New Roman" panose="02020603050405020304" pitchFamily="18" charset="0"/>
              </a:rPr>
              <a:t>Mouse                                      - Two or Three Button Mouse</a:t>
            </a:r>
          </a:p>
          <a:p>
            <a:pPr algn="just">
              <a:lnSpc>
                <a:spcPct val="150000"/>
              </a:lnSpc>
            </a:pPr>
            <a:r>
              <a:rPr lang="en-US" dirty="0">
                <a:latin typeface="Times New Roman" panose="02020603050405020304" pitchFamily="18" charset="0"/>
                <a:cs typeface="Times New Roman" panose="02020603050405020304" pitchFamily="18" charset="0"/>
              </a:rPr>
              <a:t>Monitor                                    - Any</a:t>
            </a:r>
          </a:p>
        </p:txBody>
      </p:sp>
      <p:sp>
        <p:nvSpPr>
          <p:cNvPr id="3" name="Title 1"/>
          <p:cNvSpPr txBox="1"/>
          <p:nvPr/>
        </p:nvSpPr>
        <p:spPr>
          <a:xfrm>
            <a:off x="1576063" y="385046"/>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smtClean="0">
                <a:latin typeface="Times New Roman" panose="02020603050405020304" pitchFamily="18" charset="0"/>
                <a:cs typeface="Times New Roman" panose="02020603050405020304" pitchFamily="18" charset="0"/>
              </a:rPr>
              <a:t>HARDWARE &amp; SOFTWARE REQUIREMENTS</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9678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319939" y="1911179"/>
            <a:ext cx="9792904" cy="4176583"/>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Requirement’s analysis is very critical process that enables the success of a system or software project to be assessed. Requirements are generally split into two types: Functional and non-functional requirements.</a:t>
            </a:r>
          </a:p>
          <a:p>
            <a:pPr algn="just" fontAlgn="base">
              <a:lnSpc>
                <a:spcPct val="150000"/>
              </a:lnSpc>
            </a:pPr>
            <a:r>
              <a:rPr lang="en-US" sz="2000" b="1" dirty="0">
                <a:latin typeface="Times New Roman" panose="02020603050405020304" pitchFamily="18" charset="0"/>
                <a:cs typeface="Times New Roman" panose="02020603050405020304" pitchFamily="18" charset="0"/>
              </a:rPr>
              <a:t>Functional Requirements</a:t>
            </a:r>
            <a:r>
              <a:rPr lang="en-US" sz="2000" dirty="0">
                <a:latin typeface="Times New Roman" panose="02020603050405020304" pitchFamily="18" charset="0"/>
                <a:cs typeface="Times New Roman" panose="02020603050405020304" pitchFamily="18" charset="0"/>
              </a:rPr>
              <a:t>: These are the requirements that the end user specifically demands as basic facilities that the system should offer. All these functionalities need to be necessarily incorporated into the system as a part of the contract. These are represented or stated in the form of input to be given to the system, the operation performed and the output expected. They are basically the requirements stated by the user which one can see directly in the final product, unlike the non-functional requirements.</a:t>
            </a:r>
          </a:p>
        </p:txBody>
      </p:sp>
      <p:sp>
        <p:nvSpPr>
          <p:cNvPr id="3"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smtClean="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207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1070918" y="1672282"/>
            <a:ext cx="10412628" cy="4547286"/>
          </a:xfrm>
          <a:prstGeom prst="rect">
            <a:avLst/>
          </a:prstGeom>
        </p:spPr>
        <p:txBody>
          <a:bodyPr>
            <a:normAutofit lnSpcReduction="10000"/>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algn="just" fontAlgn="base">
              <a:lnSpc>
                <a:spcPct val="150000"/>
              </a:lnSpc>
            </a:pPr>
            <a:r>
              <a:rPr lang="en-US" sz="2000" dirty="0">
                <a:latin typeface="Times New Roman" panose="02020603050405020304" pitchFamily="18" charset="0"/>
                <a:cs typeface="Times New Roman" panose="02020603050405020304" pitchFamily="18" charset="0"/>
              </a:rPr>
              <a:t>Examples of functional requirements: </a:t>
            </a:r>
          </a:p>
          <a:p>
            <a:pPr lvl="0" algn="just" fontAlgn="base">
              <a:lnSpc>
                <a:spcPct val="150000"/>
              </a:lnSpc>
            </a:pPr>
            <a:r>
              <a:rPr lang="en-US" sz="2000" dirty="0">
                <a:latin typeface="Times New Roman" panose="02020603050405020304" pitchFamily="18" charset="0"/>
                <a:cs typeface="Times New Roman" panose="02020603050405020304" pitchFamily="18" charset="0"/>
              </a:rPr>
              <a:t>Authentication of user whenever he/she logs into the system</a:t>
            </a:r>
          </a:p>
          <a:p>
            <a:pPr lvl="0" algn="just" fontAlgn="base">
              <a:lnSpc>
                <a:spcPct val="150000"/>
              </a:lnSpc>
            </a:pPr>
            <a:r>
              <a:rPr lang="en-US" sz="2000" dirty="0">
                <a:latin typeface="Times New Roman" panose="02020603050405020304" pitchFamily="18" charset="0"/>
                <a:cs typeface="Times New Roman" panose="02020603050405020304" pitchFamily="18" charset="0"/>
              </a:rPr>
              <a:t>System shutdown in case of a cyber-attack</a:t>
            </a:r>
          </a:p>
          <a:p>
            <a:pPr lvl="0" algn="just" fontAlgn="base">
              <a:lnSpc>
                <a:spcPct val="150000"/>
              </a:lnSpc>
            </a:pPr>
            <a:r>
              <a:rPr lang="en-US" sz="2000" dirty="0">
                <a:latin typeface="Times New Roman" panose="02020603050405020304" pitchFamily="18" charset="0"/>
                <a:cs typeface="Times New Roman" panose="02020603050405020304" pitchFamily="18" charset="0"/>
              </a:rPr>
              <a:t>A verification email is sent to user whenever he/she register for the first time on some software system.</a:t>
            </a:r>
          </a:p>
          <a:p>
            <a:pPr algn="just">
              <a:lnSpc>
                <a:spcPct val="150000"/>
              </a:lnSpc>
            </a:pPr>
            <a:r>
              <a:rPr lang="en-US" sz="2000" b="1" dirty="0">
                <a:latin typeface="Times New Roman" panose="02020603050405020304" pitchFamily="18" charset="0"/>
                <a:cs typeface="Times New Roman" panose="02020603050405020304" pitchFamily="18" charset="0"/>
              </a:rPr>
              <a:t>Non-functional requirements</a:t>
            </a:r>
            <a:r>
              <a:rPr lang="en-US" sz="2000" dirty="0">
                <a:latin typeface="Times New Roman" panose="02020603050405020304" pitchFamily="18" charset="0"/>
                <a:cs typeface="Times New Roman" panose="02020603050405020304" pitchFamily="18" charset="0"/>
              </a:rPr>
              <a:t>: These are basically the quality constraints that the system must satisfy according to the project contract. The priority or extent to which these factors are implemented varies from one project to other. They are also called non-behavioral requirements.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476459" y="520222"/>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smtClean="0">
                <a:latin typeface="Times New Roman" panose="02020603050405020304" pitchFamily="18" charset="0"/>
                <a:cs typeface="Times New Roman" panose="02020603050405020304" pitchFamily="18" charset="0"/>
              </a:rPr>
              <a:t> FUNCTIONAL AND NON-FUNCTIONAL REQUIREMENTS</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135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771135" y="1911179"/>
            <a:ext cx="9045146" cy="3784600"/>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a:latin typeface="Times New Roman" panose="02020603050405020304" pitchFamily="18" charset="0"/>
                <a:cs typeface="Times New Roman" panose="02020603050405020304" pitchFamily="18" charset="0"/>
              </a:rPr>
              <a:t>Use Case Diagram:</a:t>
            </a:r>
          </a:p>
          <a:p>
            <a:pPr marL="342900" lvl="0" indent="-342900" algn="just">
              <a:lnSpc>
                <a:spcPct val="150000"/>
              </a:lnSpc>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p:txBody>
      </p:sp>
    </p:spTree>
    <p:extLst>
      <p:ext uri="{BB962C8B-B14F-4D97-AF65-F5344CB8AC3E}">
        <p14:creationId xmlns:p14="http://schemas.microsoft.com/office/powerpoint/2010/main" val="3695494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 Box 1"/>
          <p:cNvSpPr txBox="1"/>
          <p:nvPr/>
        </p:nvSpPr>
        <p:spPr>
          <a:xfrm>
            <a:off x="4534535" y="5790565"/>
            <a:ext cx="3307080" cy="36830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a:t>
            </a:r>
            <a:r>
              <a:rPr lang="en-US" b="1" dirty="0" smtClean="0">
                <a:latin typeface="Times New Roman" panose="02020603050405020304" pitchFamily="18" charset="0"/>
                <a:cs typeface="Times New Roman" panose="02020603050405020304" pitchFamily="18" charset="0"/>
              </a:rPr>
              <a:t>Use Case Diagram</a:t>
            </a:r>
            <a:endParaRPr lang="en-US" b="1"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3522672" y="2095569"/>
            <a:ext cx="6196093" cy="3390900"/>
          </a:xfrm>
          <a:prstGeom prst="rect">
            <a:avLst/>
          </a:prstGeom>
        </p:spPr>
      </p:pic>
    </p:spTree>
    <p:extLst>
      <p:ext uri="{BB962C8B-B14F-4D97-AF65-F5344CB8AC3E}">
        <p14:creationId xmlns:p14="http://schemas.microsoft.com/office/powerpoint/2010/main" val="555138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771135" y="1911179"/>
            <a:ext cx="9045146" cy="2345322"/>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smtClean="0">
                <a:latin typeface="Times New Roman" panose="02020603050405020304" pitchFamily="18" charset="0"/>
                <a:cs typeface="Times New Roman" panose="02020603050405020304" pitchFamily="18" charset="0"/>
              </a:rPr>
              <a:t>Class Diagram</a:t>
            </a:r>
            <a:r>
              <a:rPr lang="en-US" sz="2000" b="1" dirty="0">
                <a:latin typeface="Times New Roman" panose="02020603050405020304" pitchFamily="18" charset="0"/>
                <a:cs typeface="Times New Roman" panose="02020603050405020304" pitchFamily="18" charset="0"/>
              </a:rPr>
              <a:t>:</a:t>
            </a:r>
          </a:p>
          <a:p>
            <a:pPr algn="just">
              <a:lnSpc>
                <a:spcPct val="150000"/>
              </a:lnSpc>
            </a:pPr>
            <a:r>
              <a:rPr lang="en-US" sz="2000" dirty="0">
                <a:latin typeface="Times New Roman" panose="02020603050405020304" pitchFamily="18" charset="0"/>
                <a:cs typeface="Times New Roman" panose="02020603050405020304" pitchFamily="18" charset="0"/>
              </a:rPr>
              <a:t>In software engineering, a class diagram in the Unified Modelling Language (UML) is a type of static structure diagram that describes the structure of a system by showing the system's classes, their attributes, operations (or methods), and the relationships among the classes. It explains which class contains information.</a:t>
            </a:r>
          </a:p>
        </p:txBody>
      </p:sp>
    </p:spTree>
    <p:extLst>
      <p:ext uri="{BB962C8B-B14F-4D97-AF65-F5344CB8AC3E}">
        <p14:creationId xmlns:p14="http://schemas.microsoft.com/office/powerpoint/2010/main" val="2420447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499154" y="5660218"/>
            <a:ext cx="2973860"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 Class diagram</a:t>
            </a:r>
            <a:endParaRPr lang="en-US" sz="2000" b="1"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a:stretch>
            <a:fillRect/>
          </a:stretch>
        </p:blipFill>
        <p:spPr>
          <a:xfrm>
            <a:off x="3426033" y="1867172"/>
            <a:ext cx="4845776" cy="2914650"/>
          </a:xfrm>
          <a:prstGeom prst="rect">
            <a:avLst/>
          </a:prstGeom>
        </p:spPr>
      </p:pic>
    </p:spTree>
    <p:extLst>
      <p:ext uri="{BB962C8B-B14F-4D97-AF65-F5344CB8AC3E}">
        <p14:creationId xmlns:p14="http://schemas.microsoft.com/office/powerpoint/2010/main" val="37624897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774882" y="1911179"/>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smtClean="0">
                <a:latin typeface="Times New Roman" panose="02020603050405020304" pitchFamily="18" charset="0"/>
                <a:cs typeface="Times New Roman" panose="02020603050405020304" pitchFamily="18" charset="0"/>
              </a:rPr>
              <a:t>Sequence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smtClean="0">
                <a:latin typeface="Times New Roman" panose="02020603050405020304" pitchFamily="18" charset="0"/>
                <a:cs typeface="Times New Roman" panose="02020603050405020304" pitchFamily="18" charset="0"/>
              </a:rPr>
              <a:t>A </a:t>
            </a:r>
            <a:r>
              <a:rPr lang="en-US" sz="2000" dirty="0">
                <a:latin typeface="Times New Roman" panose="02020603050405020304" pitchFamily="18" charset="0"/>
                <a:cs typeface="Times New Roman" panose="02020603050405020304" pitchFamily="18" charset="0"/>
              </a:rPr>
              <a:t>sequence diagram in Unified Modelling Language (UML) is a kind of interaction diagram that shows how processes operate with one another and in what order. It is a construct of a Message Sequence Chart. Sequence diagrams are sometimes called event diagrams, event scenarios, and timing diagrams.</a:t>
            </a:r>
          </a:p>
          <a:p>
            <a:pPr marL="342900" lvl="0" indent="-342900" algn="just">
              <a:lnSpc>
                <a:spcPct val="150000"/>
              </a:lnSpc>
              <a:buFont typeface="Wingdings" panose="05000000000000000000" pitchFamily="2" charset="2"/>
              <a:buChar char="§"/>
            </a:pPr>
            <a:endParaRPr lang="en-US" sz="2000"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8067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399006" y="5461463"/>
            <a:ext cx="3670013"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 Sequence diagram</a:t>
            </a:r>
            <a:endParaRPr lang="en-US" sz="2000" b="1"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3690620" y="2005012"/>
            <a:ext cx="4810760" cy="2847975"/>
          </a:xfrm>
          <a:prstGeom prst="rect">
            <a:avLst/>
          </a:prstGeom>
        </p:spPr>
      </p:pic>
    </p:spTree>
    <p:extLst>
      <p:ext uri="{BB962C8B-B14F-4D97-AF65-F5344CB8AC3E}">
        <p14:creationId xmlns:p14="http://schemas.microsoft.com/office/powerpoint/2010/main" val="142579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573483" y="2084174"/>
            <a:ext cx="9045146" cy="3268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Collaboration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p>
        </p:txBody>
      </p:sp>
    </p:spTree>
    <p:extLst>
      <p:ext uri="{BB962C8B-B14F-4D97-AF65-F5344CB8AC3E}">
        <p14:creationId xmlns:p14="http://schemas.microsoft.com/office/powerpoint/2010/main" val="4151772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267201" y="5000144"/>
            <a:ext cx="3670013"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 </a:t>
            </a:r>
            <a:r>
              <a:rPr lang="en-US" sz="2000" b="1" dirty="0">
                <a:latin typeface="Times New Roman" panose="02020603050405020304" pitchFamily="18" charset="0"/>
                <a:cs typeface="Times New Roman" panose="02020603050405020304" pitchFamily="18" charset="0"/>
              </a:rPr>
              <a:t>Collaboration </a:t>
            </a:r>
            <a:r>
              <a:rPr lang="en-US" sz="2000" b="1" dirty="0" smtClean="0">
                <a:latin typeface="Times New Roman" panose="02020603050405020304" pitchFamily="18" charset="0"/>
                <a:cs typeface="Times New Roman" panose="02020603050405020304" pitchFamily="18" charset="0"/>
              </a:rPr>
              <a:t>diagram</a:t>
            </a:r>
            <a:endParaRPr lang="en-US" sz="2000" b="1"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a:stretch>
            <a:fillRect/>
          </a:stretch>
        </p:blipFill>
        <p:spPr>
          <a:xfrm>
            <a:off x="4062412" y="2352675"/>
            <a:ext cx="4067175" cy="2152650"/>
          </a:xfrm>
          <a:prstGeom prst="rect">
            <a:avLst/>
          </a:prstGeom>
        </p:spPr>
      </p:pic>
    </p:spTree>
    <p:extLst>
      <p:ext uri="{BB962C8B-B14F-4D97-AF65-F5344CB8AC3E}">
        <p14:creationId xmlns:p14="http://schemas.microsoft.com/office/powerpoint/2010/main" val="25952249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573483" y="2084174"/>
            <a:ext cx="9045146" cy="234532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Deployment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p>
        </p:txBody>
      </p:sp>
    </p:spTree>
    <p:extLst>
      <p:ext uri="{BB962C8B-B14F-4D97-AF65-F5344CB8AC3E}">
        <p14:creationId xmlns:p14="http://schemas.microsoft.com/office/powerpoint/2010/main" val="33410066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267201" y="5000144"/>
            <a:ext cx="3670013"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 Deployment diagram</a:t>
            </a:r>
            <a:endParaRPr lang="en-US" sz="2000" b="1"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4176712" y="2705100"/>
            <a:ext cx="3838575" cy="1447800"/>
          </a:xfrm>
          <a:prstGeom prst="rect">
            <a:avLst/>
          </a:prstGeom>
        </p:spPr>
      </p:pic>
    </p:spTree>
    <p:extLst>
      <p:ext uri="{BB962C8B-B14F-4D97-AF65-F5344CB8AC3E}">
        <p14:creationId xmlns:p14="http://schemas.microsoft.com/office/powerpoint/2010/main" val="4163151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573483" y="2084174"/>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Activity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p>
        </p:txBody>
      </p:sp>
    </p:spTree>
    <p:extLst>
      <p:ext uri="{BB962C8B-B14F-4D97-AF65-F5344CB8AC3E}">
        <p14:creationId xmlns:p14="http://schemas.microsoft.com/office/powerpoint/2010/main" val="42782925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260992" y="5967997"/>
            <a:ext cx="3670013"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 Activity diagram</a:t>
            </a:r>
            <a:endParaRPr lang="en-US" sz="2000" b="1"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a:stretch>
            <a:fillRect/>
          </a:stretch>
        </p:blipFill>
        <p:spPr>
          <a:xfrm>
            <a:off x="4024310" y="1679846"/>
            <a:ext cx="4143375" cy="4029075"/>
          </a:xfrm>
          <a:prstGeom prst="rect">
            <a:avLst/>
          </a:prstGeom>
        </p:spPr>
      </p:pic>
    </p:spTree>
    <p:extLst>
      <p:ext uri="{BB962C8B-B14F-4D97-AF65-F5344CB8AC3E}">
        <p14:creationId xmlns:p14="http://schemas.microsoft.com/office/powerpoint/2010/main" val="42477923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573483" y="2084174"/>
            <a:ext cx="9045146" cy="2400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Component Diagram</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sz="20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2000" b="1" dirty="0">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functions is covered by planned development.</a:t>
            </a:r>
          </a:p>
        </p:txBody>
      </p:sp>
    </p:spTree>
    <p:extLst>
      <p:ext uri="{BB962C8B-B14F-4D97-AF65-F5344CB8AC3E}">
        <p14:creationId xmlns:p14="http://schemas.microsoft.com/office/powerpoint/2010/main" val="18531815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341341" y="5288468"/>
            <a:ext cx="3670013"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 Component diagram</a:t>
            </a:r>
            <a:endParaRPr lang="en-US" sz="2000" b="1"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3733482" y="2833687"/>
            <a:ext cx="4725035" cy="1190625"/>
          </a:xfrm>
          <a:prstGeom prst="rect">
            <a:avLst/>
          </a:prstGeom>
        </p:spPr>
      </p:pic>
    </p:spTree>
    <p:extLst>
      <p:ext uri="{BB962C8B-B14F-4D97-AF65-F5344CB8AC3E}">
        <p14:creationId xmlns:p14="http://schemas.microsoft.com/office/powerpoint/2010/main" val="24718581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963827" y="1470197"/>
            <a:ext cx="10536194" cy="47089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ER Diagram:</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p>
        </p:txBody>
      </p:sp>
    </p:spTree>
    <p:extLst>
      <p:ext uri="{BB962C8B-B14F-4D97-AF65-F5344CB8AC3E}">
        <p14:creationId xmlns:p14="http://schemas.microsoft.com/office/powerpoint/2010/main" val="16622706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341341" y="5288468"/>
            <a:ext cx="3670013"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 ER diagram</a:t>
            </a:r>
            <a:endParaRPr lang="en-US" sz="2000" b="1"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a:stretch>
            <a:fillRect/>
          </a:stretch>
        </p:blipFill>
        <p:spPr>
          <a:xfrm>
            <a:off x="3230245" y="2008822"/>
            <a:ext cx="5731510" cy="2840355"/>
          </a:xfrm>
          <a:prstGeom prst="rect">
            <a:avLst/>
          </a:prstGeom>
        </p:spPr>
      </p:pic>
    </p:spTree>
    <p:extLst>
      <p:ext uri="{BB962C8B-B14F-4D97-AF65-F5344CB8AC3E}">
        <p14:creationId xmlns:p14="http://schemas.microsoft.com/office/powerpoint/2010/main" val="36287766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276865" y="1692618"/>
            <a:ext cx="9737124" cy="3785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DFD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p>
        </p:txBody>
      </p:sp>
    </p:spTree>
    <p:extLst>
      <p:ext uri="{BB962C8B-B14F-4D97-AF65-F5344CB8AC3E}">
        <p14:creationId xmlns:p14="http://schemas.microsoft.com/office/powerpoint/2010/main" val="41581077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341341" y="5288468"/>
            <a:ext cx="3670013"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 Context Level diagram</a:t>
            </a:r>
            <a:endParaRPr lang="en-US" sz="2000" b="1"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3581082" y="1795145"/>
            <a:ext cx="5029835" cy="3267710"/>
          </a:xfrm>
          <a:prstGeom prst="rect">
            <a:avLst/>
          </a:prstGeom>
        </p:spPr>
      </p:pic>
    </p:spTree>
    <p:extLst>
      <p:ext uri="{BB962C8B-B14F-4D97-AF65-F5344CB8AC3E}">
        <p14:creationId xmlns:p14="http://schemas.microsoft.com/office/powerpoint/2010/main" val="39242246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341341" y="5288468"/>
            <a:ext cx="3670013"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FigureLevel-1 diagram</a:t>
            </a:r>
            <a:endParaRPr lang="en-US" sz="2000" b="1"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3230245" y="1579880"/>
            <a:ext cx="5731510" cy="3698240"/>
          </a:xfrm>
          <a:prstGeom prst="rect">
            <a:avLst/>
          </a:prstGeom>
        </p:spPr>
      </p:pic>
    </p:spTree>
    <p:extLst>
      <p:ext uri="{BB962C8B-B14F-4D97-AF65-F5344CB8AC3E}">
        <p14:creationId xmlns:p14="http://schemas.microsoft.com/office/powerpoint/2010/main" val="9784617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smtClean="0">
                <a:latin typeface="Times New Roman" panose="02020603050405020304" pitchFamily="18" charset="0"/>
                <a:cs typeface="Times New Roman" panose="02020603050405020304" pitchFamily="18" charset="0"/>
              </a:rPr>
              <a:t>UML DIAGRAMS</a:t>
            </a:r>
            <a:endParaRPr lang="en-US" sz="36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341341" y="5288468"/>
            <a:ext cx="3670013" cy="400110"/>
          </a:xfrm>
          <a:prstGeom prst="rect">
            <a:avLst/>
          </a:prstGeom>
          <a:noFill/>
        </p:spPr>
        <p:txBody>
          <a:bodyPr wrap="square" rtlCol="0">
            <a:spAutoFit/>
          </a:bodyPr>
          <a:lstStyle/>
          <a:p>
            <a:pPr algn="ctr"/>
            <a:r>
              <a:rPr lang="en-US" sz="2000" b="1" dirty="0" smtClean="0">
                <a:latin typeface="Times New Roman" panose="02020603050405020304" pitchFamily="18" charset="0"/>
                <a:cs typeface="Times New Roman" panose="02020603050405020304" pitchFamily="18" charset="0"/>
              </a:rPr>
              <a:t>Figure:Level-2 diagram</a:t>
            </a:r>
            <a:endParaRPr lang="en-US" sz="2000" b="1"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stretch>
            <a:fillRect/>
          </a:stretch>
        </p:blipFill>
        <p:spPr>
          <a:xfrm>
            <a:off x="3230245" y="1515745"/>
            <a:ext cx="5731510" cy="3826510"/>
          </a:xfrm>
          <a:prstGeom prst="rect">
            <a:avLst/>
          </a:prstGeom>
        </p:spPr>
      </p:pic>
    </p:spTree>
    <p:extLst>
      <p:ext uri="{BB962C8B-B14F-4D97-AF65-F5344CB8AC3E}">
        <p14:creationId xmlns:p14="http://schemas.microsoft.com/office/powerpoint/2010/main" val="21615017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3509" y="505726"/>
            <a:ext cx="11338560" cy="4811574"/>
          </a:xfrm>
          <a:prstGeom prst="rect">
            <a:avLst/>
          </a:prstGeom>
        </p:spPr>
        <p:txBody>
          <a:bodyPr wrap="square">
            <a:spAutoFit/>
          </a:bodyPr>
          <a:lstStyle/>
          <a:p>
            <a:pPr algn="ctr">
              <a:lnSpc>
                <a:spcPct val="150000"/>
              </a:lnSpc>
              <a:spcAft>
                <a:spcPts val="800"/>
              </a:spcAft>
            </a:pPr>
            <a:r>
              <a:rPr lang="en-IN" sz="2000" b="1"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IMPLEMENTATION </a:t>
            </a:r>
            <a:r>
              <a:rPr lang="en-IN"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AND RESULTS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IN" b="1" dirty="0" smtClean="0">
                <a:latin typeface="Times New Roman" panose="02020603050405020304" pitchFamily="18" charset="0"/>
                <a:cs typeface="Times New Roman" panose="02020603050405020304" pitchFamily="18" charset="0"/>
              </a:rPr>
              <a:t>1</a:t>
            </a:r>
            <a:r>
              <a:rPr lang="en-IN" b="1" dirty="0">
                <a:latin typeface="Times New Roman" panose="02020603050405020304" pitchFamily="18" charset="0"/>
                <a:cs typeface="Times New Roman" panose="02020603050405020304" pitchFamily="18" charset="0"/>
              </a:rPr>
              <a:t>. System:</a:t>
            </a:r>
            <a:endParaRPr lang="en-IN"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1.1 Create Dataset:</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Collect a diverse dataset of retinal images, including images with and without signs of cardiovascular disease.</a:t>
            </a:r>
          </a:p>
          <a:p>
            <a:pPr algn="just">
              <a:lnSpc>
                <a:spcPct val="150000"/>
              </a:lnSpc>
            </a:pPr>
            <a:r>
              <a:rPr lang="en-IN" dirty="0">
                <a:latin typeface="Times New Roman" panose="02020603050405020304" pitchFamily="18" charset="0"/>
                <a:cs typeface="Times New Roman" panose="02020603050405020304" pitchFamily="18" charset="0"/>
              </a:rPr>
              <a:t>Split the dataset into two parts: a training dataset (used for model training) and a testing dataset (used to evaluate the model's performance). The test dataset should typically be around 20-30% of the total dataset.</a:t>
            </a:r>
          </a:p>
          <a:p>
            <a:pPr algn="just">
              <a:lnSpc>
                <a:spcPct val="150000"/>
              </a:lnSpc>
            </a:pPr>
            <a:r>
              <a:rPr lang="en-IN" b="1" dirty="0">
                <a:latin typeface="Times New Roman" panose="02020603050405020304" pitchFamily="18" charset="0"/>
                <a:cs typeface="Times New Roman" panose="02020603050405020304" pitchFamily="18" charset="0"/>
              </a:rPr>
              <a:t>1.2 Pre-processing:</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Before feeding images into the deep learning model, perform pre-processing steps like resizing and reshaping to ensure all images are in a consistent format.</a:t>
            </a:r>
          </a:p>
          <a:p>
            <a:pPr algn="just">
              <a:lnSpc>
                <a:spcPct val="150000"/>
              </a:lnSpc>
            </a:pPr>
            <a:r>
              <a:rPr lang="en-IN" dirty="0">
                <a:latin typeface="Times New Roman" panose="02020603050405020304" pitchFamily="18" charset="0"/>
                <a:cs typeface="Times New Roman" panose="02020603050405020304" pitchFamily="18" charset="0"/>
              </a:rPr>
              <a:t>Normalize pixel values, and potentially augment the data with techniques like rotation, flipping, or contrast adjustments to improve model generalization</a:t>
            </a:r>
            <a:r>
              <a:rPr lang="en-IN" dirty="0"/>
              <a:t>.</a:t>
            </a:r>
          </a:p>
        </p:txBody>
      </p:sp>
    </p:spTree>
    <p:extLst>
      <p:ext uri="{BB962C8B-B14F-4D97-AF65-F5344CB8AC3E}">
        <p14:creationId xmlns:p14="http://schemas.microsoft.com/office/powerpoint/2010/main" val="24902265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3509" y="505726"/>
            <a:ext cx="11338560" cy="5227072"/>
          </a:xfrm>
          <a:prstGeom prst="rect">
            <a:avLst/>
          </a:prstGeom>
        </p:spPr>
        <p:txBody>
          <a:bodyPr wrap="square">
            <a:spAutoFit/>
          </a:bodyPr>
          <a:lstStyle/>
          <a:p>
            <a:pPr algn="ctr">
              <a:lnSpc>
                <a:spcPct val="150000"/>
              </a:lnSpc>
              <a:spcAft>
                <a:spcPts val="800"/>
              </a:spcAft>
            </a:pPr>
            <a:r>
              <a:rPr lang="en-IN" sz="2000" b="1"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IMPLEMENTATION </a:t>
            </a:r>
            <a:r>
              <a:rPr lang="en-IN"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AND RESULTS</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IN" b="1" dirty="0" smtClean="0">
                <a:latin typeface="Times New Roman" panose="02020603050405020304" pitchFamily="18" charset="0"/>
                <a:cs typeface="Times New Roman" panose="02020603050405020304" pitchFamily="18" charset="0"/>
              </a:rPr>
              <a:t>1</a:t>
            </a:r>
            <a:r>
              <a:rPr lang="en-IN" b="1" dirty="0">
                <a:latin typeface="Times New Roman" panose="02020603050405020304" pitchFamily="18" charset="0"/>
                <a:cs typeface="Times New Roman" panose="02020603050405020304" pitchFamily="18" charset="0"/>
              </a:rPr>
              <a:t>. System:</a:t>
            </a:r>
            <a:endParaRPr lang="en-IN"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1.3 Training:</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Train a deep learning model using the pre-processed training dataset. Common architectures for image classification include Convolutional Neural Networks (CNNs).</a:t>
            </a:r>
          </a:p>
          <a:p>
            <a:pPr algn="just">
              <a:lnSpc>
                <a:spcPct val="150000"/>
              </a:lnSpc>
            </a:pPr>
            <a:r>
              <a:rPr lang="en-IN" dirty="0">
                <a:latin typeface="Times New Roman" panose="02020603050405020304" pitchFamily="18" charset="0"/>
                <a:cs typeface="Times New Roman" panose="02020603050405020304" pitchFamily="18" charset="0"/>
              </a:rPr>
              <a:t>During training, the model learns to recognize patterns and features in the retinal images that distinguish between disease and normal cases.</a:t>
            </a:r>
          </a:p>
          <a:p>
            <a:pPr algn="just">
              <a:lnSpc>
                <a:spcPct val="150000"/>
              </a:lnSpc>
            </a:pPr>
            <a:r>
              <a:rPr lang="en-IN" dirty="0">
                <a:latin typeface="Times New Roman" panose="02020603050405020304" pitchFamily="18" charset="0"/>
                <a:cs typeface="Times New Roman" panose="02020603050405020304" pitchFamily="18" charset="0"/>
              </a:rPr>
              <a:t>Utilize loss functions and optimization algorithms to fine-tune the model's parameters.</a:t>
            </a:r>
          </a:p>
          <a:p>
            <a:pPr algn="just">
              <a:lnSpc>
                <a:spcPct val="150000"/>
              </a:lnSpc>
            </a:pPr>
            <a:r>
              <a:rPr lang="en-IN" b="1" dirty="0">
                <a:latin typeface="Times New Roman" panose="02020603050405020304" pitchFamily="18" charset="0"/>
                <a:cs typeface="Times New Roman" panose="02020603050405020304" pitchFamily="18" charset="0"/>
              </a:rPr>
              <a:t>1.4 Classification:</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After training, use the trained model to classify new, unseen retinal images as either "with disease" or "normal."</a:t>
            </a:r>
          </a:p>
          <a:p>
            <a:pPr algn="just">
              <a:lnSpc>
                <a:spcPct val="150000"/>
              </a:lnSpc>
            </a:pPr>
            <a:r>
              <a:rPr lang="en-IN" dirty="0">
                <a:latin typeface="Times New Roman" panose="02020603050405020304" pitchFamily="18" charset="0"/>
                <a:cs typeface="Times New Roman" panose="02020603050405020304" pitchFamily="18" charset="0"/>
              </a:rPr>
              <a:t>The classification output could be a probability score or a binary decision, indicating the likelihood of the image containing signs of cardiovascular disease.</a:t>
            </a:r>
          </a:p>
        </p:txBody>
      </p:sp>
    </p:spTree>
    <p:extLst>
      <p:ext uri="{BB962C8B-B14F-4D97-AF65-F5344CB8AC3E}">
        <p14:creationId xmlns:p14="http://schemas.microsoft.com/office/powerpoint/2010/main" val="32857183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8537" y="1508065"/>
            <a:ext cx="8647611" cy="3782061"/>
          </a:xfrm>
          <a:prstGeom prst="rect">
            <a:avLst/>
          </a:prstGeom>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2.1 Upload Image:</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Provide a user-friendly interface where users can upload their retinal images for classification.</a:t>
            </a:r>
          </a:p>
          <a:p>
            <a:pPr algn="just">
              <a:lnSpc>
                <a:spcPct val="150000"/>
              </a:lnSpc>
            </a:pPr>
            <a:r>
              <a:rPr lang="en-IN" dirty="0">
                <a:latin typeface="Times New Roman" panose="02020603050405020304" pitchFamily="18" charset="0"/>
                <a:cs typeface="Times New Roman" panose="02020603050405020304" pitchFamily="18" charset="0"/>
              </a:rPr>
              <a:t>Ensure the system can handle various image formats and sizes.</a:t>
            </a:r>
          </a:p>
          <a:p>
            <a:pPr algn="just">
              <a:lnSpc>
                <a:spcPct val="150000"/>
              </a:lnSpc>
            </a:pPr>
            <a:r>
              <a:rPr lang="en-IN" b="1" dirty="0">
                <a:latin typeface="Times New Roman" panose="02020603050405020304" pitchFamily="18" charset="0"/>
                <a:cs typeface="Times New Roman" panose="02020603050405020304" pitchFamily="18" charset="0"/>
              </a:rPr>
              <a:t>2.2 View Results:</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Once the trained model processes the uploaded image, display the results to the user.</a:t>
            </a:r>
          </a:p>
          <a:p>
            <a:pPr algn="just">
              <a:lnSpc>
                <a:spcPct val="150000"/>
              </a:lnSpc>
            </a:pPr>
            <a:r>
              <a:rPr lang="en-IN" dirty="0">
                <a:latin typeface="Times New Roman" panose="02020603050405020304" pitchFamily="18" charset="0"/>
                <a:cs typeface="Times New Roman" panose="02020603050405020304" pitchFamily="18" charset="0"/>
              </a:rPr>
              <a:t>Results could include a textual description (e.g., "No disease detected" or "Possible disease detected") and, optionally, a visualization of the image with highlighted regions of interest.</a:t>
            </a:r>
          </a:p>
          <a:p>
            <a:pPr algn="just">
              <a:lnSpc>
                <a:spcPct val="150000"/>
              </a:lnSpc>
            </a:pPr>
            <a:r>
              <a:rPr lang="en-IN" dirty="0">
                <a:latin typeface="Times New Roman" panose="02020603050405020304" pitchFamily="18" charset="0"/>
                <a:cs typeface="Times New Roman" panose="02020603050405020304" pitchFamily="18" charset="0"/>
              </a:rPr>
              <a:t>Users should be able to easily interpret and understand the classification results</a:t>
            </a:r>
          </a:p>
        </p:txBody>
      </p:sp>
      <p:sp>
        <p:nvSpPr>
          <p:cNvPr id="3" name="Rectangle 2"/>
          <p:cNvSpPr/>
          <p:nvPr/>
        </p:nvSpPr>
        <p:spPr>
          <a:xfrm>
            <a:off x="3226108" y="484137"/>
            <a:ext cx="3989361" cy="507831"/>
          </a:xfrm>
          <a:prstGeom prst="rect">
            <a:avLst/>
          </a:prstGeom>
        </p:spPr>
        <p:txBody>
          <a:bodyPr wrap="none">
            <a:spAutoFit/>
          </a:bodyPr>
          <a:lstStyle/>
          <a:p>
            <a:pPr algn="ctr">
              <a:lnSpc>
                <a:spcPct val="150000"/>
              </a:lnSpc>
              <a:spcAft>
                <a:spcPts val="800"/>
              </a:spcAft>
            </a:pPr>
            <a:r>
              <a:rPr lang="en-IN"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IMPLEMENTATION AND RESULTS</a:t>
            </a: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179282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0992" y="1053576"/>
            <a:ext cx="9382318" cy="5124480"/>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1. Tang, J., Liu, R., Zhang, Y. et al. (2018). "</a:t>
            </a:r>
            <a:r>
              <a:rPr lang="en-US" dirty="0" err="1">
                <a:latin typeface="Times New Roman" panose="02020603050405020304" pitchFamily="18" charset="0"/>
                <a:cs typeface="Times New Roman" panose="02020603050405020304" pitchFamily="18" charset="0"/>
              </a:rPr>
              <a:t>DeepKidney</a:t>
            </a:r>
            <a:r>
              <a:rPr lang="en-US" dirty="0">
                <a:latin typeface="Times New Roman" panose="02020603050405020304" pitchFamily="18" charset="0"/>
                <a:cs typeface="Times New Roman" panose="02020603050405020304" pitchFamily="18" charset="0"/>
              </a:rPr>
              <a:t>: Deep Learning for Kidney Tissue Classification." Scientific Reports, 8(1), 1-9. DOI: 10.1038/s41598-018-22549-w.</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Jirayucharoensak</a:t>
            </a:r>
            <a:r>
              <a:rPr lang="en-US" dirty="0">
                <a:latin typeface="Times New Roman" panose="02020603050405020304" pitchFamily="18" charset="0"/>
                <a:cs typeface="Times New Roman" panose="02020603050405020304" pitchFamily="18" charset="0"/>
              </a:rPr>
              <a:t>, S., Pan-</a:t>
            </a:r>
            <a:r>
              <a:rPr lang="en-US" dirty="0" err="1">
                <a:latin typeface="Times New Roman" panose="02020603050405020304" pitchFamily="18" charset="0"/>
                <a:cs typeface="Times New Roman" panose="02020603050405020304" pitchFamily="18" charset="0"/>
              </a:rPr>
              <a:t>Ngum</a:t>
            </a:r>
            <a:r>
              <a:rPr lang="en-US" dirty="0">
                <a:latin typeface="Times New Roman" panose="02020603050405020304" pitchFamily="18" charset="0"/>
                <a:cs typeface="Times New Roman" panose="02020603050405020304" pitchFamily="18" charset="0"/>
              </a:rPr>
              <a:t>, S., &amp; </a:t>
            </a:r>
            <a:r>
              <a:rPr lang="en-US" dirty="0" err="1">
                <a:latin typeface="Times New Roman" panose="02020603050405020304" pitchFamily="18" charset="0"/>
                <a:cs typeface="Times New Roman" panose="02020603050405020304" pitchFamily="18" charset="0"/>
              </a:rPr>
              <a:t>Israsena</a:t>
            </a:r>
            <a:r>
              <a:rPr lang="en-US" dirty="0">
                <a:latin typeface="Times New Roman" panose="02020603050405020304" pitchFamily="18" charset="0"/>
                <a:cs typeface="Times New Roman" panose="02020603050405020304" pitchFamily="18" charset="0"/>
              </a:rPr>
              <a:t>, P. (2019). "Automatic kidney disease diagnosis from ultrasound images using deep convolutional neural networks." Journal of Digital Imaging, 32(3), 469-478. DOI: 10.1007/s10278-018-0137-4.</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3. Liang, M., Ni, Z., &amp; Yan, P. (2018). "Chronic kidney disease classification using deep convolutional neural networks." Multimedia Tools and Applications, 77(12), 16083-16093. DOI: 10.1007/s11042-018-5992-2.</a:t>
            </a:r>
            <a:endParaRPr lang="en-IN"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4. Islam, M. T., Rahman, M. M., Islam, M. Z., &amp; Zhang, Y. (2018). "Kidney disease classification from ultrasonic images using deep convolutional neural networks." Journal of Ambient Intelligence and Humanized Computing, 9(4), 989-999. DOI: 10.1007/s12652-017-0571-1.</a:t>
            </a:r>
            <a:endParaRPr lang="en-IN"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3" name="Title 1"/>
          <p:cNvSpPr txBox="1"/>
          <p:nvPr/>
        </p:nvSpPr>
        <p:spPr>
          <a:xfrm>
            <a:off x="1655209" y="0"/>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smtClean="0">
                <a:latin typeface="Times New Roman" panose="02020603050405020304" pitchFamily="18" charset="0"/>
                <a:cs typeface="Times New Roman" panose="02020603050405020304" pitchFamily="18" charset="0"/>
              </a:rPr>
              <a:t>REFERENCES</a:t>
            </a:r>
            <a:endParaRPr lang="en-US" sz="3600" b="1" dirty="0"/>
          </a:p>
        </p:txBody>
      </p:sp>
    </p:spTree>
    <p:extLst>
      <p:ext uri="{BB962C8B-B14F-4D97-AF65-F5344CB8AC3E}">
        <p14:creationId xmlns:p14="http://schemas.microsoft.com/office/powerpoint/2010/main" val="35479941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25</TotalTime>
  <Words>2873</Words>
  <Application>Microsoft Office PowerPoint</Application>
  <PresentationFormat>Widescreen</PresentationFormat>
  <Paragraphs>188</Paragraphs>
  <Slides>41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Arial</vt:lpstr>
      <vt:lpstr>Calibri</vt:lpstr>
      <vt:lpstr>Rockwell</vt:lpstr>
      <vt:lpstr>Rockwell Condensed</vt:lpstr>
      <vt:lpstr>Times New Roman</vt:lpstr>
      <vt:lpstr>Wingdings</vt:lpstr>
      <vt:lpstr>Wingdings 3</vt:lpstr>
      <vt:lpstr>Wood Type</vt:lpstr>
      <vt:lpstr>Detection Chronic Kidney Disease Using Deep Learning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Detection Chronic Kidney Disease Using Deep Learning</dc:title>
  <dc:creator>D S Jashvitha Sai</dc:creator>
  <cp:lastModifiedBy>K P Arun Kumar</cp:lastModifiedBy>
  <cp:revision>8</cp:revision>
  <dcterms:created xsi:type="dcterms:W3CDTF">2023-10-03T11:16:57Z</dcterms:created>
  <dcterms:modified xsi:type="dcterms:W3CDTF">2024-12-17T13:45:23Z</dcterms:modified>
</cp:coreProperties>
</file>